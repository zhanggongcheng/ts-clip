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430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300">
                <a:solidFill>
                  <a:srgbClr val="26364A"/>
                </a:solidFill>
                <a:latin typeface="Arial"/>
              </a:defRPr>
            </a:pPr>
            <a:r>
              <a:t>TS-CLIP: Text-guided dual-branch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26364A"/>
                </a:solidFill>
                <a:latin typeface="Arial"/>
              </a:defRPr>
            </a:pPr>
            <a:r>
              <a:t>Image features and offline text prototypes guide token selection and local–global interaction.</a:t>
            </a:r>
          </a:p>
        </p:txBody>
      </p:sp>
      <p:sp>
        <p:nvSpPr>
          <p:cNvPr id="4" name="Input image frame"/>
          <p:cNvSpPr/>
          <p:nvPr/>
        </p:nvSpPr>
        <p:spPr>
          <a:xfrm>
            <a:off x="274320" y="2212848"/>
            <a:ext cx="96012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26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ing Window Partition"/>
          <p:cNvSpPr/>
          <p:nvPr/>
        </p:nvSpPr>
        <p:spPr>
          <a:xfrm>
            <a:off x="1554480" y="2395728"/>
            <a:ext cx="1078992" cy="960120"/>
          </a:xfrm>
          <a:prstGeom prst="rect">
            <a:avLst/>
          </a:prstGeom>
          <a:solidFill>
            <a:srgbClr val="F4F6F8"/>
          </a:solidFill>
          <a:ln w="10160">
            <a:solidFill>
              <a:srgbClr val="26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Sliding Window</a:t>
            </a:r>
          </a:p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Partition</a:t>
            </a:r>
          </a:p>
        </p:txBody>
      </p:sp>
      <p:sp>
        <p:nvSpPr>
          <p:cNvPr id="6" name="Shared CLIP Local Encoder"/>
          <p:cNvSpPr/>
          <p:nvPr/>
        </p:nvSpPr>
        <p:spPr>
          <a:xfrm>
            <a:off x="2926080" y="2395728"/>
            <a:ext cx="1051560" cy="960120"/>
          </a:xfrm>
          <a:prstGeom prst="rect">
            <a:avLst/>
          </a:prstGeom>
          <a:solidFill>
            <a:srgbClr val="E8F0F8"/>
          </a:solidFill>
          <a:ln w="10160">
            <a:solidFill>
              <a:srgbClr val="26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Shared CLIP</a:t>
            </a:r>
          </a:p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Local Encoder</a:t>
            </a:r>
          </a:p>
        </p:txBody>
      </p:sp>
      <p:sp>
        <p:nvSpPr>
          <p:cNvPr id="7" name="Local Branch Extraction"/>
          <p:cNvSpPr/>
          <p:nvPr/>
        </p:nvSpPr>
        <p:spPr>
          <a:xfrm>
            <a:off x="4297680" y="1508760"/>
            <a:ext cx="1353312" cy="960120"/>
          </a:xfrm>
          <a:prstGeom prst="rect">
            <a:avLst/>
          </a:prstGeom>
          <a:solidFill>
            <a:srgbClr val="E8F0F8"/>
          </a:solidFill>
          <a:ln w="10160">
            <a:solidFill>
              <a:srgbClr val="26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Local Branch</a:t>
            </a:r>
          </a:p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Extraction</a:t>
            </a:r>
          </a:p>
        </p:txBody>
      </p:sp>
      <p:sp>
        <p:nvSpPr>
          <p:cNvPr id="8" name="Stitch Global Stitch Branch"/>
          <p:cNvSpPr/>
          <p:nvPr/>
        </p:nvSpPr>
        <p:spPr>
          <a:xfrm>
            <a:off x="4297680" y="3246120"/>
            <a:ext cx="1353312" cy="960120"/>
          </a:xfrm>
          <a:prstGeom prst="rect">
            <a:avLst/>
          </a:prstGeom>
          <a:solidFill>
            <a:srgbClr val="E8F0F8"/>
          </a:solidFill>
          <a:ln w="10160">
            <a:solidFill>
              <a:srgbClr val="26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Stitch Global</a:t>
            </a:r>
          </a:p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Stitch Branch</a:t>
            </a:r>
          </a:p>
        </p:txBody>
      </p:sp>
      <p:sp>
        <p:nvSpPr>
          <p:cNvPr id="9" name="Offline CBP Text Prototype"/>
          <p:cNvSpPr/>
          <p:nvPr/>
        </p:nvSpPr>
        <p:spPr>
          <a:xfrm>
            <a:off x="5989320" y="1051560"/>
            <a:ext cx="1600200" cy="731520"/>
          </a:xfrm>
          <a:prstGeom prst="rect">
            <a:avLst/>
          </a:prstGeom>
          <a:solidFill>
            <a:srgbClr val="FAE8D3"/>
          </a:solidFill>
          <a:ln w="10160">
            <a:solidFill>
              <a:srgbClr val="26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Offline CBP</a:t>
            </a:r>
          </a:p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Text Prototype</a:t>
            </a:r>
          </a:p>
        </p:txBody>
      </p:sp>
      <p:sp>
        <p:nvSpPr>
          <p:cNvPr id="10" name="Text-Guided Proxy Anchor Generation"/>
          <p:cNvSpPr/>
          <p:nvPr/>
        </p:nvSpPr>
        <p:spPr>
          <a:xfrm>
            <a:off x="5989320" y="2395728"/>
            <a:ext cx="1600200" cy="960120"/>
          </a:xfrm>
          <a:prstGeom prst="rect">
            <a:avLst/>
          </a:prstGeom>
          <a:solidFill>
            <a:srgbClr val="FAE8D3"/>
          </a:solidFill>
          <a:ln w="10160">
            <a:solidFill>
              <a:srgbClr val="26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Text-Guided Proxy</a:t>
            </a:r>
          </a:p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Anchor Generation</a:t>
            </a:r>
          </a:p>
        </p:txBody>
      </p:sp>
      <p:sp>
        <p:nvSpPr>
          <p:cNvPr id="11" name="Lightweight Token Selection"/>
          <p:cNvSpPr/>
          <p:nvPr/>
        </p:nvSpPr>
        <p:spPr>
          <a:xfrm>
            <a:off x="7909560" y="2395728"/>
            <a:ext cx="1371600" cy="960120"/>
          </a:xfrm>
          <a:prstGeom prst="rect">
            <a:avLst/>
          </a:prstGeom>
          <a:solidFill>
            <a:srgbClr val="E8F0F8"/>
          </a:solidFill>
          <a:ln w="10160">
            <a:solidFill>
              <a:srgbClr val="26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Lightweight</a:t>
            </a:r>
          </a:p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Token Selection</a:t>
            </a:r>
          </a:p>
        </p:txBody>
      </p:sp>
      <p:sp>
        <p:nvSpPr>
          <p:cNvPr id="12" name="Local Attention"/>
          <p:cNvSpPr/>
          <p:nvPr/>
        </p:nvSpPr>
        <p:spPr>
          <a:xfrm>
            <a:off x="9692640" y="1783080"/>
            <a:ext cx="2148840" cy="640080"/>
          </a:xfrm>
          <a:prstGeom prst="rect">
            <a:avLst/>
          </a:prstGeom>
          <a:solidFill>
            <a:srgbClr val="E8F0F8"/>
          </a:solidFill>
          <a:ln w="10160">
            <a:solidFill>
              <a:srgbClr val="26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Local Attention</a:t>
            </a:r>
          </a:p>
        </p:txBody>
      </p:sp>
      <p:sp>
        <p:nvSpPr>
          <p:cNvPr id="13" name="Global Hierarchical Attention"/>
          <p:cNvSpPr/>
          <p:nvPr/>
        </p:nvSpPr>
        <p:spPr>
          <a:xfrm>
            <a:off x="9692640" y="3337560"/>
            <a:ext cx="2148840" cy="640080"/>
          </a:xfrm>
          <a:prstGeom prst="rect">
            <a:avLst/>
          </a:prstGeom>
          <a:solidFill>
            <a:srgbClr val="E8F0F8"/>
          </a:solidFill>
          <a:ln w="10160">
            <a:solidFill>
              <a:srgbClr val="26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Global Hierarchical Attention</a:t>
            </a:r>
          </a:p>
        </p:txBody>
      </p:sp>
      <p:sp>
        <p:nvSpPr>
          <p:cNvPr id="14" name="Scale-Gated Feature Fusion"/>
          <p:cNvSpPr/>
          <p:nvPr/>
        </p:nvSpPr>
        <p:spPr>
          <a:xfrm>
            <a:off x="9692640" y="4681728"/>
            <a:ext cx="2148840" cy="777240"/>
          </a:xfrm>
          <a:prstGeom prst="rect">
            <a:avLst/>
          </a:prstGeom>
          <a:solidFill>
            <a:srgbClr val="FAE8D3"/>
          </a:solidFill>
          <a:ln w="10160">
            <a:solidFill>
              <a:srgbClr val="26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Scale-Gated</a:t>
            </a:r>
          </a:p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Feature Fusion</a:t>
            </a:r>
          </a:p>
        </p:txBody>
      </p:sp>
      <p:sp>
        <p:nvSpPr>
          <p:cNvPr id="15" name="Cross-Modal Consistency Refinement"/>
          <p:cNvSpPr/>
          <p:nvPr/>
        </p:nvSpPr>
        <p:spPr>
          <a:xfrm>
            <a:off x="6812280" y="4681728"/>
            <a:ext cx="2148840" cy="777240"/>
          </a:xfrm>
          <a:prstGeom prst="rect">
            <a:avLst/>
          </a:prstGeom>
          <a:solidFill>
            <a:srgbClr val="E8F0F8"/>
          </a:solidFill>
          <a:ln w="10160">
            <a:solidFill>
              <a:srgbClr val="26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Cross-Modal Consistency</a:t>
            </a:r>
          </a:p>
          <a:p>
            <a:pPr algn="ctr">
              <a:defRPr sz="1200">
                <a:solidFill>
                  <a:srgbClr val="26364A"/>
                </a:solidFill>
                <a:latin typeface="Arial"/>
              </a:defRPr>
            </a:pPr>
            <a:r>
              <a:t>Refinement</a:t>
            </a:r>
          </a:p>
        </p:txBody>
      </p:sp>
      <p:sp>
        <p:nvSpPr>
          <p:cNvPr id="16" name="Output segmentation frame"/>
          <p:cNvSpPr/>
          <p:nvPr/>
        </p:nvSpPr>
        <p:spPr>
          <a:xfrm>
            <a:off x="4297680" y="4553712"/>
            <a:ext cx="155448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26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>
            <a:stCxn id="4" idx="3"/>
            <a:endCxn id="5" idx="1"/>
          </p:cNvCxnSpPr>
          <p:nvPr/>
        </p:nvCxnSpPr>
        <p:spPr>
          <a:xfrm flipV="1">
            <a:off x="1234440" y="2875788"/>
            <a:ext cx="320040" cy="22860"/>
          </a:xfrm>
          <a:prstGeom prst="line">
            <a:avLst/>
          </a:prstGeom>
          <a:ln w="12700">
            <a:solidFill>
              <a:srgbClr val="2636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5" idx="3"/>
            <a:endCxn id="6" idx="1"/>
          </p:cNvCxnSpPr>
          <p:nvPr/>
        </p:nvCxnSpPr>
        <p:spPr>
          <a:xfrm>
            <a:off x="2633472" y="2875788"/>
            <a:ext cx="292608" cy="0"/>
          </a:xfrm>
          <a:prstGeom prst="line">
            <a:avLst/>
          </a:prstGeom>
          <a:ln w="12700">
            <a:solidFill>
              <a:srgbClr val="2636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977639" y="1993392"/>
            <a:ext cx="320041" cy="658368"/>
          </a:xfrm>
          <a:prstGeom prst="line">
            <a:avLst/>
          </a:prstGeom>
          <a:ln w="12700">
            <a:solidFill>
              <a:srgbClr val="2636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77639" y="3108960"/>
            <a:ext cx="320041" cy="621792"/>
          </a:xfrm>
          <a:prstGeom prst="line">
            <a:avLst/>
          </a:prstGeom>
          <a:ln w="12700">
            <a:solidFill>
              <a:srgbClr val="2636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50992" y="1993392"/>
            <a:ext cx="338328" cy="685800"/>
          </a:xfrm>
          <a:prstGeom prst="line">
            <a:avLst/>
          </a:prstGeom>
          <a:ln w="12700">
            <a:solidFill>
              <a:srgbClr val="2636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650992" y="3108960"/>
            <a:ext cx="338328" cy="621792"/>
          </a:xfrm>
          <a:prstGeom prst="line">
            <a:avLst/>
          </a:prstGeom>
          <a:ln w="12700">
            <a:solidFill>
              <a:srgbClr val="2636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9" idx="2"/>
            <a:endCxn id="10" idx="0"/>
          </p:cNvCxnSpPr>
          <p:nvPr/>
        </p:nvCxnSpPr>
        <p:spPr>
          <a:xfrm>
            <a:off x="6789420" y="1783080"/>
            <a:ext cx="0" cy="612648"/>
          </a:xfrm>
          <a:prstGeom prst="line">
            <a:avLst/>
          </a:prstGeom>
          <a:ln w="12700">
            <a:solidFill>
              <a:srgbClr val="2636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0" idx="3"/>
            <a:endCxn id="11" idx="1"/>
          </p:cNvCxnSpPr>
          <p:nvPr/>
        </p:nvCxnSpPr>
        <p:spPr>
          <a:xfrm>
            <a:off x="7589520" y="2875788"/>
            <a:ext cx="320040" cy="0"/>
          </a:xfrm>
          <a:prstGeom prst="line">
            <a:avLst/>
          </a:prstGeom>
          <a:ln w="12700">
            <a:solidFill>
              <a:srgbClr val="2636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281160" y="2103120"/>
            <a:ext cx="411480" cy="594360"/>
          </a:xfrm>
          <a:prstGeom prst="line">
            <a:avLst/>
          </a:prstGeom>
          <a:ln w="12700">
            <a:solidFill>
              <a:srgbClr val="2636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81160" y="3063240"/>
            <a:ext cx="411480" cy="594360"/>
          </a:xfrm>
          <a:prstGeom prst="line">
            <a:avLst/>
          </a:prstGeom>
          <a:ln w="12700">
            <a:solidFill>
              <a:srgbClr val="2636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2" idx="2"/>
            <a:endCxn id="13" idx="0"/>
          </p:cNvCxnSpPr>
          <p:nvPr/>
        </p:nvCxnSpPr>
        <p:spPr>
          <a:xfrm>
            <a:off x="10767060" y="2423160"/>
            <a:ext cx="0" cy="914400"/>
          </a:xfrm>
          <a:prstGeom prst="line">
            <a:avLst/>
          </a:prstGeom>
          <a:ln w="12700">
            <a:solidFill>
              <a:srgbClr val="26364A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841480" y="2103120"/>
            <a:ext cx="173736" cy="0"/>
          </a:xfrm>
          <a:prstGeom prst="line">
            <a:avLst/>
          </a:prstGeom>
          <a:ln w="12700">
            <a:solidFill>
              <a:srgbClr val="2636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015216" y="2103120"/>
            <a:ext cx="0" cy="2971800"/>
          </a:xfrm>
          <a:prstGeom prst="line">
            <a:avLst/>
          </a:prstGeom>
          <a:ln w="127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1841480" y="5074920"/>
            <a:ext cx="173736" cy="0"/>
          </a:xfrm>
          <a:prstGeom prst="line">
            <a:avLst/>
          </a:prstGeom>
          <a:ln w="12700">
            <a:solidFill>
              <a:srgbClr val="2636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13" idx="2"/>
            <a:endCxn id="14" idx="0"/>
          </p:cNvCxnSpPr>
          <p:nvPr/>
        </p:nvCxnSpPr>
        <p:spPr>
          <a:xfrm>
            <a:off x="10767060" y="3977640"/>
            <a:ext cx="0" cy="704088"/>
          </a:xfrm>
          <a:prstGeom prst="line">
            <a:avLst/>
          </a:prstGeom>
          <a:ln w="12700">
            <a:solidFill>
              <a:srgbClr val="2636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14" idx="1"/>
            <a:endCxn id="15" idx="3"/>
          </p:cNvCxnSpPr>
          <p:nvPr/>
        </p:nvCxnSpPr>
        <p:spPr>
          <a:xfrm flipH="1">
            <a:off x="8961120" y="5070348"/>
            <a:ext cx="731520" cy="0"/>
          </a:xfrm>
          <a:prstGeom prst="line">
            <a:avLst/>
          </a:prstGeom>
          <a:ln w="12700">
            <a:solidFill>
              <a:srgbClr val="2636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15" idx="1"/>
            <a:endCxn id="16" idx="3"/>
          </p:cNvCxnSpPr>
          <p:nvPr/>
        </p:nvCxnSpPr>
        <p:spPr>
          <a:xfrm flipH="1">
            <a:off x="5852160" y="5070348"/>
            <a:ext cx="960120" cy="146304"/>
          </a:xfrm>
          <a:prstGeom prst="line">
            <a:avLst/>
          </a:prstGeom>
          <a:ln w="12700">
            <a:solidFill>
              <a:srgbClr val="2636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input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276856"/>
            <a:ext cx="850392" cy="1143000"/>
          </a:xfrm>
          <a:prstGeom prst="rect">
            <a:avLst/>
          </a:prstGeom>
        </p:spPr>
      </p:pic>
      <p:pic>
        <p:nvPicPr>
          <p:cNvPr id="35" name="Picture 34" descr="output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4617720"/>
            <a:ext cx="1426464" cy="11155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74320" y="3657600"/>
            <a:ext cx="12801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26364A"/>
                </a:solidFill>
                <a:latin typeface="Arial"/>
              </a:defRPr>
            </a:pPr>
            <a:r>
              <a:t>Input Image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5943600"/>
            <a:ext cx="25603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26364A"/>
                </a:solidFill>
                <a:latin typeface="Arial"/>
              </a:defRPr>
            </a:pPr>
            <a:r>
              <a:t>Output Segmentation 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437376"/>
            <a:ext cx="115214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26364A"/>
                </a:solidFill>
                <a:latin typeface="Arial"/>
              </a:defRPr>
            </a:pPr>
            <a:r>
              <a:t>Illustrative thumbnails only; modules, text, borders, and arrows are editable PowerPoint objects.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100">
                <a:solidFill>
                  <a:srgbClr val="26364A"/>
                </a:solidFill>
                <a:latin typeface="Arial"/>
              </a:defRPr>
            </a:pPr>
            <a:r>
              <a:t>Native reconstruction of the supplied vector PDF</a:t>
            </a:r>
          </a:p>
        </p:txBody>
      </p:sp>
      <p:sp>
        <p:nvSpPr>
          <p:cNvPr id="3" name="PDF vector path 1"/>
          <p:cNvSpPr/>
          <p:nvPr/>
        </p:nvSpPr>
        <p:spPr>
          <a:xfrm>
            <a:off x="5767264" y="1349497"/>
            <a:ext cx="0" cy="66395"/>
          </a:xfrm>
          <a:custGeom>
            <a:avLst/>
            <a:gdLst/>
            <a:ahLst/>
            <a:cxnLst/>
            <a:rect l="l" t="t" r="r" b="b"/>
            <a:pathLst>
              <a:path w="0" h="66395">
                <a:moveTo>
                  <a:pt x="0" y="0"/>
                </a:moveTo>
                <a:lnTo>
                  <a:pt x="0" y="5429"/>
                </a:lnTo>
                <a:lnTo>
                  <a:pt x="0" y="10884"/>
                </a:lnTo>
                <a:lnTo>
                  <a:pt x="0" y="16365"/>
                </a:lnTo>
                <a:lnTo>
                  <a:pt x="0" y="21868"/>
                </a:lnTo>
                <a:lnTo>
                  <a:pt x="0" y="27392"/>
                </a:lnTo>
                <a:lnTo>
                  <a:pt x="0" y="32932"/>
                </a:lnTo>
                <a:lnTo>
                  <a:pt x="0" y="38487"/>
                </a:lnTo>
                <a:lnTo>
                  <a:pt x="0" y="44055"/>
                </a:lnTo>
                <a:lnTo>
                  <a:pt x="0" y="49632"/>
                </a:lnTo>
                <a:lnTo>
                  <a:pt x="0" y="55216"/>
                </a:lnTo>
                <a:lnTo>
                  <a:pt x="0" y="60805"/>
                </a:lnTo>
                <a:lnTo>
                  <a:pt x="0" y="66395"/>
                </a:lnTo>
              </a:path>
            </a:pathLst>
          </a:custGeom>
          <a:noFill/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DF vector path 2"/>
          <p:cNvSpPr/>
          <p:nvPr/>
        </p:nvSpPr>
        <p:spPr>
          <a:xfrm>
            <a:off x="5745178" y="1419200"/>
            <a:ext cx="44185" cy="63143"/>
          </a:xfrm>
          <a:custGeom>
            <a:avLst/>
            <a:gdLst/>
            <a:ahLst/>
            <a:cxnLst/>
            <a:rect l="l" t="t" r="r" b="b"/>
            <a:pathLst>
              <a:path w="44185" h="63143">
                <a:moveTo>
                  <a:pt x="44185" y="0"/>
                </a:moveTo>
                <a:lnTo>
                  <a:pt x="22086" y="63143"/>
                </a:lnTo>
                <a:lnTo>
                  <a:pt x="0" y="0"/>
                </a:lnTo>
                <a:lnTo>
                  <a:pt x="44185" y="0"/>
                </a:lnTo>
                <a:close/>
              </a:path>
            </a:pathLst>
          </a:custGeom>
          <a:solidFill>
            <a:srgbClr val="364152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DF vector path 3"/>
          <p:cNvSpPr/>
          <p:nvPr/>
        </p:nvSpPr>
        <p:spPr>
          <a:xfrm>
            <a:off x="5767264" y="1900393"/>
            <a:ext cx="0" cy="66465"/>
          </a:xfrm>
          <a:custGeom>
            <a:avLst/>
            <a:gdLst/>
            <a:ahLst/>
            <a:cxnLst/>
            <a:rect l="l" t="t" r="r" b="b"/>
            <a:pathLst>
              <a:path w="0" h="66465">
                <a:moveTo>
                  <a:pt x="0" y="0"/>
                </a:moveTo>
                <a:lnTo>
                  <a:pt x="0" y="5444"/>
                </a:lnTo>
                <a:lnTo>
                  <a:pt x="0" y="10913"/>
                </a:lnTo>
                <a:lnTo>
                  <a:pt x="0" y="16403"/>
                </a:lnTo>
                <a:lnTo>
                  <a:pt x="0" y="21914"/>
                </a:lnTo>
                <a:lnTo>
                  <a:pt x="0" y="27443"/>
                </a:lnTo>
                <a:lnTo>
                  <a:pt x="0" y="32988"/>
                </a:lnTo>
                <a:lnTo>
                  <a:pt x="0" y="38546"/>
                </a:lnTo>
                <a:lnTo>
                  <a:pt x="0" y="44115"/>
                </a:lnTo>
                <a:lnTo>
                  <a:pt x="0" y="49694"/>
                </a:lnTo>
                <a:lnTo>
                  <a:pt x="0" y="55280"/>
                </a:lnTo>
                <a:lnTo>
                  <a:pt x="0" y="60871"/>
                </a:lnTo>
                <a:lnTo>
                  <a:pt x="0" y="66465"/>
                </a:lnTo>
              </a:path>
            </a:pathLst>
          </a:custGeom>
          <a:noFill/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DF vector path 4"/>
          <p:cNvSpPr/>
          <p:nvPr/>
        </p:nvSpPr>
        <p:spPr>
          <a:xfrm>
            <a:off x="5745178" y="1970166"/>
            <a:ext cx="44185" cy="63142"/>
          </a:xfrm>
          <a:custGeom>
            <a:avLst/>
            <a:gdLst/>
            <a:ahLst/>
            <a:cxnLst/>
            <a:rect l="l" t="t" r="r" b="b"/>
            <a:pathLst>
              <a:path w="44185" h="63142">
                <a:moveTo>
                  <a:pt x="44185" y="0"/>
                </a:moveTo>
                <a:lnTo>
                  <a:pt x="22086" y="63142"/>
                </a:lnTo>
                <a:lnTo>
                  <a:pt x="0" y="0"/>
                </a:lnTo>
                <a:lnTo>
                  <a:pt x="44185" y="0"/>
                </a:lnTo>
                <a:close/>
              </a:path>
            </a:pathLst>
          </a:custGeom>
          <a:solidFill>
            <a:srgbClr val="364152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DF vector path 5"/>
          <p:cNvSpPr/>
          <p:nvPr/>
        </p:nvSpPr>
        <p:spPr>
          <a:xfrm>
            <a:off x="5410243" y="2451359"/>
            <a:ext cx="113359" cy="91538"/>
          </a:xfrm>
          <a:custGeom>
            <a:avLst/>
            <a:gdLst/>
            <a:ahLst/>
            <a:cxnLst/>
            <a:rect l="l" t="t" r="r" b="b"/>
            <a:pathLst>
              <a:path w="113359" h="91538">
                <a:moveTo>
                  <a:pt x="113359" y="0"/>
                </a:moveTo>
                <a:lnTo>
                  <a:pt x="104099" y="7491"/>
                </a:lnTo>
                <a:lnTo>
                  <a:pt x="94780" y="15025"/>
                </a:lnTo>
                <a:lnTo>
                  <a:pt x="85409" y="22598"/>
                </a:lnTo>
                <a:lnTo>
                  <a:pt x="75995" y="30203"/>
                </a:lnTo>
                <a:lnTo>
                  <a:pt x="66545" y="37834"/>
                </a:lnTo>
                <a:lnTo>
                  <a:pt x="57065" y="45487"/>
                </a:lnTo>
                <a:lnTo>
                  <a:pt x="47565" y="53156"/>
                </a:lnTo>
                <a:lnTo>
                  <a:pt x="38050" y="60835"/>
                </a:lnTo>
                <a:lnTo>
                  <a:pt x="28529" y="68518"/>
                </a:lnTo>
                <a:lnTo>
                  <a:pt x="19009" y="76200"/>
                </a:lnTo>
                <a:lnTo>
                  <a:pt x="9496" y="83875"/>
                </a:lnTo>
                <a:lnTo>
                  <a:pt x="0" y="91538"/>
                </a:lnTo>
              </a:path>
            </a:pathLst>
          </a:custGeom>
          <a:noFill/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DF vector path 6"/>
          <p:cNvSpPr/>
          <p:nvPr/>
        </p:nvSpPr>
        <p:spPr>
          <a:xfrm>
            <a:off x="5358984" y="2527372"/>
            <a:ext cx="63045" cy="56846"/>
          </a:xfrm>
          <a:custGeom>
            <a:avLst/>
            <a:gdLst/>
            <a:ahLst/>
            <a:cxnLst/>
            <a:rect l="l" t="t" r="r" b="b"/>
            <a:pathLst>
              <a:path w="63045" h="56846">
                <a:moveTo>
                  <a:pt x="63045" y="34413"/>
                </a:moveTo>
                <a:lnTo>
                  <a:pt x="0" y="56846"/>
                </a:lnTo>
                <a:lnTo>
                  <a:pt x="35248" y="0"/>
                </a:lnTo>
                <a:lnTo>
                  <a:pt x="63045" y="34413"/>
                </a:lnTo>
                <a:close/>
              </a:path>
            </a:pathLst>
          </a:custGeom>
          <a:solidFill>
            <a:srgbClr val="364152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DF vector path 7"/>
          <p:cNvSpPr/>
          <p:nvPr/>
        </p:nvSpPr>
        <p:spPr>
          <a:xfrm>
            <a:off x="5874118" y="2451359"/>
            <a:ext cx="40613" cy="74818"/>
          </a:xfrm>
          <a:custGeom>
            <a:avLst/>
            <a:gdLst/>
            <a:ahLst/>
            <a:cxnLst/>
            <a:rect l="l" t="t" r="r" b="b"/>
            <a:pathLst>
              <a:path w="40613" h="74818">
                <a:moveTo>
                  <a:pt x="0" y="0"/>
                </a:moveTo>
                <a:lnTo>
                  <a:pt x="3321" y="6125"/>
                </a:lnTo>
                <a:lnTo>
                  <a:pt x="6661" y="12280"/>
                </a:lnTo>
                <a:lnTo>
                  <a:pt x="10017" y="18463"/>
                </a:lnTo>
                <a:lnTo>
                  <a:pt x="13386" y="24669"/>
                </a:lnTo>
                <a:lnTo>
                  <a:pt x="16768" y="30897"/>
                </a:lnTo>
                <a:lnTo>
                  <a:pt x="20161" y="37143"/>
                </a:lnTo>
                <a:lnTo>
                  <a:pt x="23561" y="43403"/>
                </a:lnTo>
                <a:lnTo>
                  <a:pt x="26967" y="49676"/>
                </a:lnTo>
                <a:lnTo>
                  <a:pt x="30378" y="55956"/>
                </a:lnTo>
                <a:lnTo>
                  <a:pt x="33790" y="62242"/>
                </a:lnTo>
                <a:lnTo>
                  <a:pt x="37202" y="68530"/>
                </a:lnTo>
                <a:lnTo>
                  <a:pt x="40613" y="74818"/>
                </a:lnTo>
              </a:path>
            </a:pathLst>
          </a:custGeom>
          <a:noFill/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DF vector path 8"/>
          <p:cNvSpPr/>
          <p:nvPr/>
        </p:nvSpPr>
        <p:spPr>
          <a:xfrm>
            <a:off x="5896760" y="2518198"/>
            <a:ext cx="49563" cy="66020"/>
          </a:xfrm>
          <a:custGeom>
            <a:avLst/>
            <a:gdLst/>
            <a:ahLst/>
            <a:cxnLst/>
            <a:rect l="l" t="t" r="r" b="b"/>
            <a:pathLst>
              <a:path w="49563" h="66020">
                <a:moveTo>
                  <a:pt x="38819" y="0"/>
                </a:moveTo>
                <a:lnTo>
                  <a:pt x="49563" y="66020"/>
                </a:lnTo>
                <a:lnTo>
                  <a:pt x="0" y="21113"/>
                </a:lnTo>
                <a:lnTo>
                  <a:pt x="38819" y="0"/>
                </a:lnTo>
                <a:close/>
              </a:path>
            </a:pathLst>
          </a:custGeom>
          <a:solidFill>
            <a:srgbClr val="364152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DF vector path 9"/>
          <p:cNvSpPr/>
          <p:nvPr/>
        </p:nvSpPr>
        <p:spPr>
          <a:xfrm>
            <a:off x="5463448" y="3002324"/>
            <a:ext cx="184216" cy="103311"/>
          </a:xfrm>
          <a:custGeom>
            <a:avLst/>
            <a:gdLst/>
            <a:ahLst/>
            <a:cxnLst/>
            <a:rect l="l" t="t" r="r" b="b"/>
            <a:pathLst>
              <a:path w="184216" h="103311">
                <a:moveTo>
                  <a:pt x="0" y="0"/>
                </a:moveTo>
                <a:lnTo>
                  <a:pt x="15066" y="8447"/>
                </a:lnTo>
                <a:lnTo>
                  <a:pt x="30234" y="16952"/>
                </a:lnTo>
                <a:lnTo>
                  <a:pt x="45487" y="25505"/>
                </a:lnTo>
                <a:lnTo>
                  <a:pt x="60812" y="34098"/>
                </a:lnTo>
                <a:lnTo>
                  <a:pt x="76194" y="42724"/>
                </a:lnTo>
                <a:lnTo>
                  <a:pt x="91618" y="51374"/>
                </a:lnTo>
                <a:lnTo>
                  <a:pt x="107069" y="60040"/>
                </a:lnTo>
                <a:lnTo>
                  <a:pt x="122533" y="68712"/>
                </a:lnTo>
                <a:lnTo>
                  <a:pt x="137994" y="77384"/>
                </a:lnTo>
                <a:lnTo>
                  <a:pt x="153438" y="86047"/>
                </a:lnTo>
                <a:lnTo>
                  <a:pt x="168850" y="94692"/>
                </a:lnTo>
                <a:lnTo>
                  <a:pt x="184216" y="103311"/>
                </a:lnTo>
              </a:path>
            </a:pathLst>
          </a:custGeom>
          <a:noFill/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DF vector path 10"/>
          <p:cNvSpPr/>
          <p:nvPr/>
        </p:nvSpPr>
        <p:spPr>
          <a:xfrm>
            <a:off x="5637559" y="3086802"/>
            <a:ext cx="65867" cy="50105"/>
          </a:xfrm>
          <a:custGeom>
            <a:avLst/>
            <a:gdLst/>
            <a:ahLst/>
            <a:cxnLst/>
            <a:rect l="l" t="t" r="r" b="b"/>
            <a:pathLst>
              <a:path w="65867" h="50105">
                <a:moveTo>
                  <a:pt x="21613" y="0"/>
                </a:moveTo>
                <a:lnTo>
                  <a:pt x="65867" y="50105"/>
                </a:lnTo>
                <a:lnTo>
                  <a:pt x="0" y="38541"/>
                </a:lnTo>
                <a:lnTo>
                  <a:pt x="21613" y="0"/>
                </a:lnTo>
                <a:close/>
              </a:path>
            </a:pathLst>
          </a:custGeom>
          <a:solidFill>
            <a:srgbClr val="364152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DF vector path 11"/>
          <p:cNvSpPr/>
          <p:nvPr/>
        </p:nvSpPr>
        <p:spPr>
          <a:xfrm>
            <a:off x="6054206" y="3002324"/>
            <a:ext cx="0" cy="66395"/>
          </a:xfrm>
          <a:custGeom>
            <a:avLst/>
            <a:gdLst/>
            <a:ahLst/>
            <a:cxnLst/>
            <a:rect l="l" t="t" r="r" b="b"/>
            <a:pathLst>
              <a:path w="0" h="66395">
                <a:moveTo>
                  <a:pt x="0" y="0"/>
                </a:moveTo>
                <a:lnTo>
                  <a:pt x="0" y="5440"/>
                </a:lnTo>
                <a:lnTo>
                  <a:pt x="0" y="10904"/>
                </a:lnTo>
                <a:lnTo>
                  <a:pt x="0" y="16389"/>
                </a:lnTo>
                <a:lnTo>
                  <a:pt x="0" y="21893"/>
                </a:lnTo>
                <a:lnTo>
                  <a:pt x="0" y="27415"/>
                </a:lnTo>
                <a:lnTo>
                  <a:pt x="0" y="32953"/>
                </a:lnTo>
                <a:lnTo>
                  <a:pt x="0" y="38504"/>
                </a:lnTo>
                <a:lnTo>
                  <a:pt x="0" y="44067"/>
                </a:lnTo>
                <a:lnTo>
                  <a:pt x="0" y="49640"/>
                </a:lnTo>
                <a:lnTo>
                  <a:pt x="0" y="55220"/>
                </a:lnTo>
                <a:lnTo>
                  <a:pt x="0" y="60806"/>
                </a:lnTo>
                <a:lnTo>
                  <a:pt x="0" y="66395"/>
                </a:lnTo>
              </a:path>
            </a:pathLst>
          </a:custGeom>
          <a:noFill/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DF vector path 12"/>
          <p:cNvSpPr/>
          <p:nvPr/>
        </p:nvSpPr>
        <p:spPr>
          <a:xfrm>
            <a:off x="6032107" y="3072027"/>
            <a:ext cx="44198" cy="63143"/>
          </a:xfrm>
          <a:custGeom>
            <a:avLst/>
            <a:gdLst/>
            <a:ahLst/>
            <a:cxnLst/>
            <a:rect l="l" t="t" r="r" b="b"/>
            <a:pathLst>
              <a:path w="44198" h="63143">
                <a:moveTo>
                  <a:pt x="44198" y="0"/>
                </a:moveTo>
                <a:lnTo>
                  <a:pt x="22099" y="63143"/>
                </a:lnTo>
                <a:lnTo>
                  <a:pt x="0" y="0"/>
                </a:lnTo>
                <a:lnTo>
                  <a:pt x="44198" y="0"/>
                </a:lnTo>
                <a:close/>
              </a:path>
            </a:pathLst>
          </a:custGeom>
          <a:solidFill>
            <a:srgbClr val="364152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DF vector path 13"/>
          <p:cNvSpPr/>
          <p:nvPr/>
        </p:nvSpPr>
        <p:spPr>
          <a:xfrm>
            <a:off x="6475620" y="3002324"/>
            <a:ext cx="190901" cy="103311"/>
          </a:xfrm>
          <a:custGeom>
            <a:avLst/>
            <a:gdLst/>
            <a:ahLst/>
            <a:cxnLst/>
            <a:rect l="l" t="t" r="r" b="b"/>
            <a:pathLst>
              <a:path w="190901" h="103311">
                <a:moveTo>
                  <a:pt x="190901" y="0"/>
                </a:moveTo>
                <a:lnTo>
                  <a:pt x="175288" y="8447"/>
                </a:lnTo>
                <a:lnTo>
                  <a:pt x="159569" y="16952"/>
                </a:lnTo>
                <a:lnTo>
                  <a:pt x="143762" y="25505"/>
                </a:lnTo>
                <a:lnTo>
                  <a:pt x="127880" y="34098"/>
                </a:lnTo>
                <a:lnTo>
                  <a:pt x="111940" y="42724"/>
                </a:lnTo>
                <a:lnTo>
                  <a:pt x="95956" y="51374"/>
                </a:lnTo>
                <a:lnTo>
                  <a:pt x="79945" y="60040"/>
                </a:lnTo>
                <a:lnTo>
                  <a:pt x="63920" y="68712"/>
                </a:lnTo>
                <a:lnTo>
                  <a:pt x="47898" y="77384"/>
                </a:lnTo>
                <a:lnTo>
                  <a:pt x="31894" y="86047"/>
                </a:lnTo>
                <a:lnTo>
                  <a:pt x="15923" y="94692"/>
                </a:lnTo>
                <a:lnTo>
                  <a:pt x="0" y="103311"/>
                </a:lnTo>
              </a:path>
            </a:pathLst>
          </a:custGeom>
          <a:noFill/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DF vector path 14"/>
          <p:cNvSpPr/>
          <p:nvPr/>
        </p:nvSpPr>
        <p:spPr>
          <a:xfrm>
            <a:off x="6417801" y="3087455"/>
            <a:ext cx="66019" cy="49452"/>
          </a:xfrm>
          <a:custGeom>
            <a:avLst/>
            <a:gdLst/>
            <a:ahLst/>
            <a:cxnLst/>
            <a:rect l="l" t="t" r="r" b="b"/>
            <a:pathLst>
              <a:path w="66019" h="49452">
                <a:moveTo>
                  <a:pt x="66019" y="38875"/>
                </a:moveTo>
                <a:lnTo>
                  <a:pt x="0" y="49452"/>
                </a:lnTo>
                <a:lnTo>
                  <a:pt x="45004" y="0"/>
                </a:lnTo>
                <a:lnTo>
                  <a:pt x="66019" y="38875"/>
                </a:lnTo>
                <a:close/>
              </a:path>
            </a:pathLst>
          </a:custGeom>
          <a:solidFill>
            <a:srgbClr val="364152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DF vector path 15"/>
          <p:cNvSpPr/>
          <p:nvPr/>
        </p:nvSpPr>
        <p:spPr>
          <a:xfrm>
            <a:off x="6054206" y="3553276"/>
            <a:ext cx="0" cy="66409"/>
          </a:xfrm>
          <a:custGeom>
            <a:avLst/>
            <a:gdLst/>
            <a:ahLst/>
            <a:cxnLst/>
            <a:rect l="l" t="t" r="r" b="b"/>
            <a:pathLst>
              <a:path w="0" h="66409">
                <a:moveTo>
                  <a:pt x="0" y="0"/>
                </a:moveTo>
                <a:lnTo>
                  <a:pt x="0" y="5431"/>
                </a:lnTo>
                <a:lnTo>
                  <a:pt x="0" y="10889"/>
                </a:lnTo>
                <a:lnTo>
                  <a:pt x="0" y="16371"/>
                </a:lnTo>
                <a:lnTo>
                  <a:pt x="0" y="21875"/>
                </a:lnTo>
                <a:lnTo>
                  <a:pt x="0" y="27398"/>
                </a:lnTo>
                <a:lnTo>
                  <a:pt x="0" y="32939"/>
                </a:lnTo>
                <a:lnTo>
                  <a:pt x="0" y="38494"/>
                </a:lnTo>
                <a:lnTo>
                  <a:pt x="0" y="44061"/>
                </a:lnTo>
                <a:lnTo>
                  <a:pt x="0" y="49639"/>
                </a:lnTo>
                <a:lnTo>
                  <a:pt x="0" y="55225"/>
                </a:lnTo>
                <a:lnTo>
                  <a:pt x="0" y="60815"/>
                </a:lnTo>
                <a:lnTo>
                  <a:pt x="0" y="66409"/>
                </a:lnTo>
              </a:path>
            </a:pathLst>
          </a:custGeom>
          <a:noFill/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DF vector path 16"/>
          <p:cNvSpPr/>
          <p:nvPr/>
        </p:nvSpPr>
        <p:spPr>
          <a:xfrm>
            <a:off x="6032107" y="3622993"/>
            <a:ext cx="44198" cy="63142"/>
          </a:xfrm>
          <a:custGeom>
            <a:avLst/>
            <a:gdLst/>
            <a:ahLst/>
            <a:cxnLst/>
            <a:rect l="l" t="t" r="r" b="b"/>
            <a:pathLst>
              <a:path w="44198" h="63142">
                <a:moveTo>
                  <a:pt x="44198" y="0"/>
                </a:moveTo>
                <a:lnTo>
                  <a:pt x="22099" y="63142"/>
                </a:lnTo>
                <a:lnTo>
                  <a:pt x="0" y="0"/>
                </a:lnTo>
                <a:lnTo>
                  <a:pt x="44198" y="0"/>
                </a:lnTo>
                <a:close/>
              </a:path>
            </a:pathLst>
          </a:custGeom>
          <a:solidFill>
            <a:srgbClr val="364152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DF vector path 17"/>
          <p:cNvSpPr/>
          <p:nvPr/>
        </p:nvSpPr>
        <p:spPr>
          <a:xfrm>
            <a:off x="5628442" y="4104186"/>
            <a:ext cx="139419" cy="95721"/>
          </a:xfrm>
          <a:custGeom>
            <a:avLst/>
            <a:gdLst/>
            <a:ahLst/>
            <a:cxnLst/>
            <a:rect l="l" t="t" r="r" b="b"/>
            <a:pathLst>
              <a:path w="139419" h="95721">
                <a:moveTo>
                  <a:pt x="139419" y="0"/>
                </a:moveTo>
                <a:lnTo>
                  <a:pt x="128021" y="7830"/>
                </a:lnTo>
                <a:lnTo>
                  <a:pt x="116551" y="15709"/>
                </a:lnTo>
                <a:lnTo>
                  <a:pt x="105019" y="23629"/>
                </a:lnTo>
                <a:lnTo>
                  <a:pt x="93433" y="31584"/>
                </a:lnTo>
                <a:lnTo>
                  <a:pt x="81804" y="39568"/>
                </a:lnTo>
                <a:lnTo>
                  <a:pt x="70142" y="47574"/>
                </a:lnTo>
                <a:lnTo>
                  <a:pt x="58456" y="55596"/>
                </a:lnTo>
                <a:lnTo>
                  <a:pt x="46755" y="63628"/>
                </a:lnTo>
                <a:lnTo>
                  <a:pt x="35049" y="71663"/>
                </a:lnTo>
                <a:lnTo>
                  <a:pt x="23349" y="79694"/>
                </a:lnTo>
                <a:lnTo>
                  <a:pt x="11662" y="87716"/>
                </a:lnTo>
                <a:lnTo>
                  <a:pt x="0" y="95721"/>
                </a:lnTo>
              </a:path>
            </a:pathLst>
          </a:custGeom>
          <a:noFill/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DF vector path 18"/>
          <p:cNvSpPr/>
          <p:nvPr/>
        </p:nvSpPr>
        <p:spPr>
          <a:xfrm>
            <a:off x="5574319" y="4183131"/>
            <a:ext cx="64547" cy="53970"/>
          </a:xfrm>
          <a:custGeom>
            <a:avLst/>
            <a:gdLst/>
            <a:ahLst/>
            <a:cxnLst/>
            <a:rect l="l" t="t" r="r" b="b"/>
            <a:pathLst>
              <a:path w="64547" h="53970">
                <a:moveTo>
                  <a:pt x="64547" y="36429"/>
                </a:moveTo>
                <a:lnTo>
                  <a:pt x="0" y="53970"/>
                </a:lnTo>
                <a:lnTo>
                  <a:pt x="39571" y="0"/>
                </a:lnTo>
                <a:lnTo>
                  <a:pt x="64547" y="36429"/>
                </a:lnTo>
                <a:close/>
              </a:path>
            </a:pathLst>
          </a:custGeom>
          <a:solidFill>
            <a:srgbClr val="364152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DF vector path 19"/>
          <p:cNvSpPr/>
          <p:nvPr/>
        </p:nvSpPr>
        <p:spPr>
          <a:xfrm>
            <a:off x="6131136" y="4104186"/>
            <a:ext cx="27631" cy="70634"/>
          </a:xfrm>
          <a:custGeom>
            <a:avLst/>
            <a:gdLst/>
            <a:ahLst/>
            <a:cxnLst/>
            <a:rect l="l" t="t" r="r" b="b"/>
            <a:pathLst>
              <a:path w="27631" h="70634">
                <a:moveTo>
                  <a:pt x="0" y="0"/>
                </a:moveTo>
                <a:lnTo>
                  <a:pt x="2258" y="5782"/>
                </a:lnTo>
                <a:lnTo>
                  <a:pt x="4526" y="11592"/>
                </a:lnTo>
                <a:lnTo>
                  <a:pt x="6804" y="17426"/>
                </a:lnTo>
                <a:lnTo>
                  <a:pt x="9091" y="23282"/>
                </a:lnTo>
                <a:lnTo>
                  <a:pt x="11387" y="29158"/>
                </a:lnTo>
                <a:lnTo>
                  <a:pt x="13691" y="35051"/>
                </a:lnTo>
                <a:lnTo>
                  <a:pt x="16001" y="40959"/>
                </a:lnTo>
                <a:lnTo>
                  <a:pt x="18318" y="46879"/>
                </a:lnTo>
                <a:lnTo>
                  <a:pt x="20640" y="52809"/>
                </a:lnTo>
                <a:lnTo>
                  <a:pt x="22967" y="58747"/>
                </a:lnTo>
                <a:lnTo>
                  <a:pt x="25298" y="64689"/>
                </a:lnTo>
                <a:lnTo>
                  <a:pt x="27631" y="70634"/>
                </a:lnTo>
              </a:path>
            </a:pathLst>
          </a:custGeom>
          <a:noFill/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DF vector path 20"/>
          <p:cNvSpPr/>
          <p:nvPr/>
        </p:nvSpPr>
        <p:spPr>
          <a:xfrm>
            <a:off x="6139559" y="4170206"/>
            <a:ext cx="43531" cy="66895"/>
          </a:xfrm>
          <a:custGeom>
            <a:avLst/>
            <a:gdLst/>
            <a:ahLst/>
            <a:cxnLst/>
            <a:rect l="l" t="t" r="r" b="b"/>
            <a:pathLst>
              <a:path w="43531" h="66895">
                <a:moveTo>
                  <a:pt x="41141" y="0"/>
                </a:moveTo>
                <a:lnTo>
                  <a:pt x="43531" y="66895"/>
                </a:lnTo>
                <a:lnTo>
                  <a:pt x="0" y="16122"/>
                </a:lnTo>
                <a:lnTo>
                  <a:pt x="41141" y="0"/>
                </a:lnTo>
                <a:close/>
              </a:path>
            </a:pathLst>
          </a:custGeom>
          <a:solidFill>
            <a:srgbClr val="364152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DF vector path 21"/>
          <p:cNvSpPr/>
          <p:nvPr/>
        </p:nvSpPr>
        <p:spPr>
          <a:xfrm>
            <a:off x="5666177" y="4447099"/>
            <a:ext cx="4239" cy="0"/>
          </a:xfrm>
          <a:custGeom>
            <a:avLst/>
            <a:gdLst/>
            <a:ahLst/>
            <a:cxnLst/>
            <a:rect l="l" t="t" r="r" b="b"/>
            <a:pathLst>
              <a:path w="4239" h="0">
                <a:moveTo>
                  <a:pt x="0" y="0"/>
                </a:moveTo>
                <a:lnTo>
                  <a:pt x="351" y="0"/>
                </a:lnTo>
                <a:lnTo>
                  <a:pt x="703" y="0"/>
                </a:lnTo>
                <a:lnTo>
                  <a:pt x="1055" y="0"/>
                </a:lnTo>
                <a:lnTo>
                  <a:pt x="1408" y="0"/>
                </a:lnTo>
                <a:lnTo>
                  <a:pt x="1761" y="0"/>
                </a:lnTo>
                <a:lnTo>
                  <a:pt x="2114" y="0"/>
                </a:lnTo>
                <a:lnTo>
                  <a:pt x="2468" y="0"/>
                </a:lnTo>
                <a:lnTo>
                  <a:pt x="2822" y="0"/>
                </a:lnTo>
                <a:lnTo>
                  <a:pt x="3176" y="0"/>
                </a:lnTo>
                <a:lnTo>
                  <a:pt x="3530" y="0"/>
                </a:lnTo>
                <a:lnTo>
                  <a:pt x="3885" y="0"/>
                </a:lnTo>
                <a:lnTo>
                  <a:pt x="4239" y="0"/>
                </a:lnTo>
              </a:path>
            </a:pathLst>
          </a:custGeom>
          <a:noFill/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DF vector path 22"/>
          <p:cNvSpPr/>
          <p:nvPr/>
        </p:nvSpPr>
        <p:spPr>
          <a:xfrm>
            <a:off x="5602326" y="4425000"/>
            <a:ext cx="63142" cy="44198"/>
          </a:xfrm>
          <a:custGeom>
            <a:avLst/>
            <a:gdLst/>
            <a:ahLst/>
            <a:cxnLst/>
            <a:rect l="l" t="t" r="r" b="b"/>
            <a:pathLst>
              <a:path w="63142" h="44198">
                <a:moveTo>
                  <a:pt x="63142" y="44198"/>
                </a:moveTo>
                <a:lnTo>
                  <a:pt x="0" y="22099"/>
                </a:lnTo>
                <a:lnTo>
                  <a:pt x="63142" y="0"/>
                </a:lnTo>
                <a:lnTo>
                  <a:pt x="63142" y="44198"/>
                </a:lnTo>
                <a:close/>
              </a:path>
            </a:pathLst>
          </a:custGeom>
          <a:solidFill>
            <a:srgbClr val="364152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DF vector path 23"/>
          <p:cNvSpPr/>
          <p:nvPr/>
        </p:nvSpPr>
        <p:spPr>
          <a:xfrm>
            <a:off x="5639575" y="4425000"/>
            <a:ext cx="63142" cy="44198"/>
          </a:xfrm>
          <a:custGeom>
            <a:avLst/>
            <a:gdLst/>
            <a:ahLst/>
            <a:cxnLst/>
            <a:rect l="l" t="t" r="r" b="b"/>
            <a:pathLst>
              <a:path w="63142" h="44198">
                <a:moveTo>
                  <a:pt x="0" y="0"/>
                </a:moveTo>
                <a:lnTo>
                  <a:pt x="63142" y="22099"/>
                </a:lnTo>
                <a:lnTo>
                  <a:pt x="0" y="44198"/>
                </a:lnTo>
                <a:lnTo>
                  <a:pt x="0" y="0"/>
                </a:lnTo>
                <a:close/>
              </a:path>
            </a:pathLst>
          </a:custGeom>
          <a:solidFill>
            <a:srgbClr val="364152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DF vector path 24"/>
          <p:cNvSpPr/>
          <p:nvPr/>
        </p:nvSpPr>
        <p:spPr>
          <a:xfrm>
            <a:off x="5503129" y="4655151"/>
            <a:ext cx="96862" cy="87355"/>
          </a:xfrm>
          <a:custGeom>
            <a:avLst/>
            <a:gdLst/>
            <a:ahLst/>
            <a:cxnLst/>
            <a:rect l="l" t="t" r="r" b="b"/>
            <a:pathLst>
              <a:path w="96862" h="87355">
                <a:moveTo>
                  <a:pt x="0" y="0"/>
                </a:moveTo>
                <a:lnTo>
                  <a:pt x="7926" y="7146"/>
                </a:lnTo>
                <a:lnTo>
                  <a:pt x="15895" y="14332"/>
                </a:lnTo>
                <a:lnTo>
                  <a:pt x="23903" y="21554"/>
                </a:lnTo>
                <a:lnTo>
                  <a:pt x="31945" y="28807"/>
                </a:lnTo>
                <a:lnTo>
                  <a:pt x="40015" y="36086"/>
                </a:lnTo>
                <a:lnTo>
                  <a:pt x="48108" y="43386"/>
                </a:lnTo>
                <a:lnTo>
                  <a:pt x="56219" y="50702"/>
                </a:lnTo>
                <a:lnTo>
                  <a:pt x="64343" y="58030"/>
                </a:lnTo>
                <a:lnTo>
                  <a:pt x="72474" y="65364"/>
                </a:lnTo>
                <a:lnTo>
                  <a:pt x="80608" y="72699"/>
                </a:lnTo>
                <a:lnTo>
                  <a:pt x="88739" y="80031"/>
                </a:lnTo>
                <a:lnTo>
                  <a:pt x="96862" y="87355"/>
                </a:lnTo>
              </a:path>
            </a:pathLst>
          </a:custGeom>
          <a:noFill/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DF vector path 25"/>
          <p:cNvSpPr/>
          <p:nvPr/>
        </p:nvSpPr>
        <p:spPr>
          <a:xfrm>
            <a:off x="5588760" y="4729316"/>
            <a:ext cx="61670" cy="58681"/>
          </a:xfrm>
          <a:custGeom>
            <a:avLst/>
            <a:gdLst/>
            <a:ahLst/>
            <a:cxnLst/>
            <a:rect l="l" t="t" r="r" b="b"/>
            <a:pathLst>
              <a:path w="61670" h="58681">
                <a:moveTo>
                  <a:pt x="29591" y="0"/>
                </a:moveTo>
                <a:lnTo>
                  <a:pt x="61670" y="58681"/>
                </a:lnTo>
                <a:lnTo>
                  <a:pt x="0" y="32843"/>
                </a:lnTo>
                <a:lnTo>
                  <a:pt x="29591" y="0"/>
                </a:lnTo>
                <a:close/>
              </a:path>
            </a:pathLst>
          </a:custGeom>
          <a:solidFill>
            <a:srgbClr val="364152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DF vector path 26"/>
          <p:cNvSpPr/>
          <p:nvPr/>
        </p:nvSpPr>
        <p:spPr>
          <a:xfrm>
            <a:off x="6057139" y="4655151"/>
            <a:ext cx="58361" cy="78988"/>
          </a:xfrm>
          <a:custGeom>
            <a:avLst/>
            <a:gdLst/>
            <a:ahLst/>
            <a:cxnLst/>
            <a:rect l="l" t="t" r="r" b="b"/>
            <a:pathLst>
              <a:path w="58361" h="78988">
                <a:moveTo>
                  <a:pt x="58361" y="0"/>
                </a:moveTo>
                <a:lnTo>
                  <a:pt x="53584" y="6464"/>
                </a:lnTo>
                <a:lnTo>
                  <a:pt x="48783" y="12960"/>
                </a:lnTo>
                <a:lnTo>
                  <a:pt x="43959" y="19486"/>
                </a:lnTo>
                <a:lnTo>
                  <a:pt x="39116" y="26038"/>
                </a:lnTo>
                <a:lnTo>
                  <a:pt x="34257" y="32613"/>
                </a:lnTo>
                <a:lnTo>
                  <a:pt x="29384" y="39207"/>
                </a:lnTo>
                <a:lnTo>
                  <a:pt x="24499" y="45818"/>
                </a:lnTo>
                <a:lnTo>
                  <a:pt x="19606" y="52440"/>
                </a:lnTo>
                <a:lnTo>
                  <a:pt x="14707" y="59072"/>
                </a:lnTo>
                <a:lnTo>
                  <a:pt x="9804" y="65710"/>
                </a:lnTo>
                <a:lnTo>
                  <a:pt x="4901" y="72349"/>
                </a:lnTo>
                <a:lnTo>
                  <a:pt x="0" y="78988"/>
                </a:lnTo>
              </a:path>
            </a:pathLst>
          </a:custGeom>
          <a:noFill/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DF vector path 27"/>
          <p:cNvSpPr/>
          <p:nvPr/>
        </p:nvSpPr>
        <p:spPr>
          <a:xfrm>
            <a:off x="6017291" y="4724104"/>
            <a:ext cx="55262" cy="63893"/>
          </a:xfrm>
          <a:custGeom>
            <a:avLst/>
            <a:gdLst/>
            <a:ahLst/>
            <a:cxnLst/>
            <a:rect l="l" t="t" r="r" b="b"/>
            <a:pathLst>
              <a:path w="55262" h="63893">
                <a:moveTo>
                  <a:pt x="55262" y="26269"/>
                </a:moveTo>
                <a:lnTo>
                  <a:pt x="0" y="63893"/>
                </a:lnTo>
                <a:lnTo>
                  <a:pt x="19764" y="0"/>
                </a:lnTo>
                <a:lnTo>
                  <a:pt x="55262" y="26269"/>
                </a:lnTo>
                <a:close/>
              </a:path>
            </a:pathLst>
          </a:custGeom>
          <a:solidFill>
            <a:srgbClr val="364152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DF vector path 28"/>
          <p:cNvSpPr/>
          <p:nvPr/>
        </p:nvSpPr>
        <p:spPr>
          <a:xfrm>
            <a:off x="5870532" y="5206103"/>
            <a:ext cx="0" cy="66409"/>
          </a:xfrm>
          <a:custGeom>
            <a:avLst/>
            <a:gdLst/>
            <a:ahLst/>
            <a:cxnLst/>
            <a:rect l="l" t="t" r="r" b="b"/>
            <a:pathLst>
              <a:path w="0" h="66409">
                <a:moveTo>
                  <a:pt x="0" y="0"/>
                </a:moveTo>
                <a:lnTo>
                  <a:pt x="0" y="5443"/>
                </a:lnTo>
                <a:lnTo>
                  <a:pt x="0" y="10908"/>
                </a:lnTo>
                <a:lnTo>
                  <a:pt x="0" y="16394"/>
                </a:lnTo>
                <a:lnTo>
                  <a:pt x="0" y="21899"/>
                </a:lnTo>
                <a:lnTo>
                  <a:pt x="0" y="27422"/>
                </a:lnTo>
                <a:lnTo>
                  <a:pt x="0" y="32959"/>
                </a:lnTo>
                <a:lnTo>
                  <a:pt x="0" y="38511"/>
                </a:lnTo>
                <a:lnTo>
                  <a:pt x="0" y="44074"/>
                </a:lnTo>
                <a:lnTo>
                  <a:pt x="0" y="49647"/>
                </a:lnTo>
                <a:lnTo>
                  <a:pt x="0" y="55228"/>
                </a:lnTo>
                <a:lnTo>
                  <a:pt x="0" y="60816"/>
                </a:lnTo>
                <a:lnTo>
                  <a:pt x="0" y="66409"/>
                </a:lnTo>
              </a:path>
            </a:pathLst>
          </a:custGeom>
          <a:noFill/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DF vector path 29"/>
          <p:cNvSpPr/>
          <p:nvPr/>
        </p:nvSpPr>
        <p:spPr>
          <a:xfrm>
            <a:off x="5848433" y="5275820"/>
            <a:ext cx="44199" cy="63142"/>
          </a:xfrm>
          <a:custGeom>
            <a:avLst/>
            <a:gdLst/>
            <a:ahLst/>
            <a:cxnLst/>
            <a:rect l="l" t="t" r="r" b="b"/>
            <a:pathLst>
              <a:path w="44199" h="63142">
                <a:moveTo>
                  <a:pt x="44199" y="0"/>
                </a:moveTo>
                <a:lnTo>
                  <a:pt x="22099" y="63142"/>
                </a:lnTo>
                <a:lnTo>
                  <a:pt x="0" y="0"/>
                </a:lnTo>
                <a:lnTo>
                  <a:pt x="44199" y="0"/>
                </a:lnTo>
                <a:close/>
              </a:path>
            </a:pathLst>
          </a:custGeom>
          <a:solidFill>
            <a:srgbClr val="364152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DF vector path 30"/>
          <p:cNvSpPr/>
          <p:nvPr/>
        </p:nvSpPr>
        <p:spPr>
          <a:xfrm>
            <a:off x="5870532" y="5757068"/>
            <a:ext cx="0" cy="66396"/>
          </a:xfrm>
          <a:custGeom>
            <a:avLst/>
            <a:gdLst/>
            <a:ahLst/>
            <a:cxnLst/>
            <a:rect l="l" t="t" r="r" b="b"/>
            <a:pathLst>
              <a:path w="0" h="66396">
                <a:moveTo>
                  <a:pt x="0" y="0"/>
                </a:moveTo>
                <a:lnTo>
                  <a:pt x="0" y="5432"/>
                </a:lnTo>
                <a:lnTo>
                  <a:pt x="0" y="10889"/>
                </a:lnTo>
                <a:lnTo>
                  <a:pt x="0" y="16371"/>
                </a:lnTo>
                <a:lnTo>
                  <a:pt x="0" y="21875"/>
                </a:lnTo>
                <a:lnTo>
                  <a:pt x="0" y="27398"/>
                </a:lnTo>
                <a:lnTo>
                  <a:pt x="0" y="32937"/>
                </a:lnTo>
                <a:lnTo>
                  <a:pt x="0" y="38492"/>
                </a:lnTo>
                <a:lnTo>
                  <a:pt x="0" y="44058"/>
                </a:lnTo>
                <a:lnTo>
                  <a:pt x="0" y="49634"/>
                </a:lnTo>
                <a:lnTo>
                  <a:pt x="0" y="55217"/>
                </a:lnTo>
                <a:lnTo>
                  <a:pt x="0" y="60805"/>
                </a:lnTo>
                <a:lnTo>
                  <a:pt x="0" y="66396"/>
                </a:lnTo>
              </a:path>
            </a:pathLst>
          </a:custGeom>
          <a:noFill/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DF vector path 31"/>
          <p:cNvSpPr/>
          <p:nvPr/>
        </p:nvSpPr>
        <p:spPr>
          <a:xfrm>
            <a:off x="5848433" y="5826785"/>
            <a:ext cx="44199" cy="63143"/>
          </a:xfrm>
          <a:custGeom>
            <a:avLst/>
            <a:gdLst/>
            <a:ahLst/>
            <a:cxnLst/>
            <a:rect l="l" t="t" r="r" b="b"/>
            <a:pathLst>
              <a:path w="44199" h="63143">
                <a:moveTo>
                  <a:pt x="44199" y="0"/>
                </a:moveTo>
                <a:lnTo>
                  <a:pt x="22099" y="63143"/>
                </a:lnTo>
                <a:lnTo>
                  <a:pt x="0" y="0"/>
                </a:lnTo>
                <a:lnTo>
                  <a:pt x="44199" y="0"/>
                </a:lnTo>
                <a:close/>
              </a:path>
            </a:pathLst>
          </a:custGeom>
          <a:solidFill>
            <a:srgbClr val="364152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DF vector path 32"/>
          <p:cNvSpPr/>
          <p:nvPr/>
        </p:nvSpPr>
        <p:spPr>
          <a:xfrm>
            <a:off x="5371257" y="934810"/>
            <a:ext cx="791958" cy="413213"/>
          </a:xfrm>
          <a:prstGeom prst="rect">
            <a:avLst/>
          </a:prstGeom>
          <a:solidFill>
            <a:srgbClr val="FFFFFF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DF vector path 33"/>
          <p:cNvSpPr/>
          <p:nvPr/>
        </p:nvSpPr>
        <p:spPr>
          <a:xfrm>
            <a:off x="5061353" y="1485720"/>
            <a:ext cx="1411764" cy="413213"/>
          </a:xfrm>
          <a:prstGeom prst="rect">
            <a:avLst/>
          </a:prstGeom>
          <a:solidFill>
            <a:srgbClr val="F3F6FA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DF vector path 34"/>
          <p:cNvSpPr/>
          <p:nvPr/>
        </p:nvSpPr>
        <p:spPr>
          <a:xfrm>
            <a:off x="5003965" y="2036672"/>
            <a:ext cx="1526541" cy="413213"/>
          </a:xfrm>
          <a:prstGeom prst="rect">
            <a:avLst/>
          </a:prstGeom>
          <a:solidFill>
            <a:srgbClr val="F3F6FA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DF vector path 35"/>
          <p:cNvSpPr/>
          <p:nvPr/>
        </p:nvSpPr>
        <p:spPr>
          <a:xfrm>
            <a:off x="4711282" y="2587637"/>
            <a:ext cx="803480" cy="413213"/>
          </a:xfrm>
          <a:prstGeom prst="rect">
            <a:avLst/>
          </a:prstGeom>
          <a:solidFill>
            <a:srgbClr val="F3F6FA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DF vector path 36"/>
          <p:cNvSpPr/>
          <p:nvPr/>
        </p:nvSpPr>
        <p:spPr>
          <a:xfrm>
            <a:off x="5623772" y="2587637"/>
            <a:ext cx="860868" cy="413213"/>
          </a:xfrm>
          <a:prstGeom prst="rect">
            <a:avLst/>
          </a:prstGeom>
          <a:solidFill>
            <a:srgbClr val="F3F6FA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DF vector path 37"/>
          <p:cNvSpPr/>
          <p:nvPr/>
        </p:nvSpPr>
        <p:spPr>
          <a:xfrm>
            <a:off x="6587895" y="2587637"/>
            <a:ext cx="883829" cy="413213"/>
          </a:xfrm>
          <a:prstGeom prst="rect">
            <a:avLst/>
          </a:prstGeom>
          <a:solidFill>
            <a:srgbClr val="F9F1E6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DF vector path 38"/>
          <p:cNvSpPr/>
          <p:nvPr/>
        </p:nvSpPr>
        <p:spPr>
          <a:xfrm>
            <a:off x="5308114" y="3138589"/>
            <a:ext cx="1492169" cy="413213"/>
          </a:xfrm>
          <a:prstGeom prst="rect">
            <a:avLst/>
          </a:prstGeom>
          <a:solidFill>
            <a:srgbClr val="F9E7D2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DF vector path 39"/>
          <p:cNvSpPr/>
          <p:nvPr/>
        </p:nvSpPr>
        <p:spPr>
          <a:xfrm>
            <a:off x="5256480" y="3689499"/>
            <a:ext cx="1595438" cy="413213"/>
          </a:xfrm>
          <a:prstGeom prst="rect">
            <a:avLst/>
          </a:prstGeom>
          <a:solidFill>
            <a:srgbClr val="F3F6FA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DF vector path 40"/>
          <p:cNvSpPr/>
          <p:nvPr/>
        </p:nvSpPr>
        <p:spPr>
          <a:xfrm>
            <a:off x="4969496" y="4240464"/>
            <a:ext cx="631314" cy="413213"/>
          </a:xfrm>
          <a:prstGeom prst="rect">
            <a:avLst/>
          </a:prstGeom>
          <a:solidFill>
            <a:srgbClr val="E8F0F8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DF vector path 41"/>
          <p:cNvSpPr/>
          <p:nvPr/>
        </p:nvSpPr>
        <p:spPr>
          <a:xfrm>
            <a:off x="5704121" y="4240464"/>
            <a:ext cx="1113369" cy="413213"/>
          </a:xfrm>
          <a:prstGeom prst="rect">
            <a:avLst/>
          </a:prstGeom>
          <a:solidFill>
            <a:srgbClr val="E8F0F8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DF vector path 42"/>
          <p:cNvSpPr/>
          <p:nvPr/>
        </p:nvSpPr>
        <p:spPr>
          <a:xfrm>
            <a:off x="5090027" y="4791416"/>
            <a:ext cx="1561011" cy="413213"/>
          </a:xfrm>
          <a:prstGeom prst="rect">
            <a:avLst/>
          </a:prstGeom>
          <a:solidFill>
            <a:srgbClr val="F9E7D2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DF vector path 43"/>
          <p:cNvSpPr/>
          <p:nvPr/>
        </p:nvSpPr>
        <p:spPr>
          <a:xfrm>
            <a:off x="5164622" y="5342382"/>
            <a:ext cx="1411820" cy="413213"/>
          </a:xfrm>
          <a:prstGeom prst="rect">
            <a:avLst/>
          </a:prstGeom>
          <a:solidFill>
            <a:srgbClr val="F3F6FA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DF vector path 44"/>
          <p:cNvSpPr/>
          <p:nvPr/>
        </p:nvSpPr>
        <p:spPr>
          <a:xfrm>
            <a:off x="5107234" y="5893291"/>
            <a:ext cx="1526597" cy="413213"/>
          </a:xfrm>
          <a:prstGeom prst="rect">
            <a:avLst/>
          </a:prstGeom>
          <a:solidFill>
            <a:srgbClr val="FFFFFF"/>
          </a:solidFill>
          <a:ln w="8034">
            <a:solidFill>
              <a:srgbClr val="36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26386" y="1057094"/>
            <a:ext cx="740489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Input Image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16485" y="1608000"/>
            <a:ext cx="1353899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Sliding Window Partition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59098" y="2158961"/>
            <a:ext cx="1477035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Shared CLIP Local Encoder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6407" y="2652534"/>
            <a:ext cx="751026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Local Branch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29549" y="2767308"/>
            <a:ext cx="621898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Extraction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07621" y="2652534"/>
            <a:ext cx="757327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Stitch Global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78901" y="2767308"/>
            <a:ext cx="802677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Stitch Branch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9189" y="2652534"/>
            <a:ext cx="661669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Offline CBP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43081" y="2767308"/>
            <a:ext cx="835113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Text Prototype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63298" y="3203440"/>
            <a:ext cx="1434061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Text-Guided Proxy Anchor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53553" y="3318268"/>
            <a:ext cx="656297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Generation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11612" y="3811787"/>
            <a:ext cx="1543045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Lightweight Token Selection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39450" y="4305360"/>
            <a:ext cx="352588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Local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4676" y="4420134"/>
            <a:ext cx="570143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Attention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59254" y="4305360"/>
            <a:ext cx="1058661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Global Hierarchical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00312" y="4420134"/>
            <a:ext cx="570143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Attention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45205" y="4913707"/>
            <a:ext cx="1499968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Scale-Gated Feature Fusion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19803" y="5407226"/>
            <a:ext cx="1357928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Cross-Modal Consistency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52671" y="5522055"/>
            <a:ext cx="691524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Refinement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62416" y="6015574"/>
            <a:ext cx="1474349" cy="1841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3">
                <a:solidFill>
                  <a:srgbClr val="26364A"/>
                </a:solidFill>
                <a:latin typeface="Arial"/>
              </a:defRPr>
            </a:pPr>
            <a:r>
              <a:t>Output Segmentation Map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6382512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26364A"/>
                </a:solidFill>
                <a:latin typeface="Arial"/>
              </a:defRPr>
            </a:pPr>
            <a:r>
              <a:t>PDF page 1 • text and geometric paths reconstructed as native objects; no page-sized screenshot.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Zhanggc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