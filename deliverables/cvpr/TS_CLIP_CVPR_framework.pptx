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314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 encoding"/>
          <p:cNvSpPr/>
          <p:nvPr/>
        </p:nvSpPr>
        <p:spPr>
          <a:xfrm>
            <a:off x="25400" y="190500"/>
            <a:ext cx="1270000" cy="2565400"/>
          </a:xfrm>
          <a:prstGeom prst="rect">
            <a:avLst/>
          </a:prstGeom>
          <a:solidFill>
            <a:srgbClr val="F7F9FC"/>
          </a:solidFill>
          <a:ln w="6985">
            <a:solidFill>
              <a:srgbClr val="8697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mage encoding"/>
          <p:cNvSpPr txBox="1"/>
          <p:nvPr/>
        </p:nvSpPr>
        <p:spPr>
          <a:xfrm>
            <a:off x="50800" y="228600"/>
            <a:ext cx="1219200" cy="177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384A"/>
                </a:solidFill>
                <a:latin typeface="Liberation Sans"/>
              </a:defRPr>
            </a:pPr>
            <a:r>
              <a:t>Image encoding</a:t>
            </a:r>
          </a:p>
        </p:txBody>
      </p:sp>
      <p:sp>
        <p:nvSpPr>
          <p:cNvPr id="4" name="Dual branches"/>
          <p:cNvSpPr/>
          <p:nvPr/>
        </p:nvSpPr>
        <p:spPr>
          <a:xfrm>
            <a:off x="1371600" y="190500"/>
            <a:ext cx="825500" cy="2565400"/>
          </a:xfrm>
          <a:prstGeom prst="rect">
            <a:avLst/>
          </a:prstGeom>
          <a:solidFill>
            <a:srgbClr val="F7F9FC"/>
          </a:solidFill>
          <a:ln w="6985">
            <a:solidFill>
              <a:srgbClr val="8697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ual branches"/>
          <p:cNvSpPr txBox="1"/>
          <p:nvPr/>
        </p:nvSpPr>
        <p:spPr>
          <a:xfrm>
            <a:off x="1397000" y="228600"/>
            <a:ext cx="774700" cy="177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384A"/>
                </a:solidFill>
                <a:latin typeface="Liberation Sans"/>
              </a:defRPr>
            </a:pPr>
            <a:r>
              <a:t>Dual branches</a:t>
            </a:r>
          </a:p>
        </p:txBody>
      </p:sp>
      <p:sp>
        <p:nvSpPr>
          <p:cNvPr id="6" name="Text-guided screening"/>
          <p:cNvSpPr/>
          <p:nvPr/>
        </p:nvSpPr>
        <p:spPr>
          <a:xfrm>
            <a:off x="2273300" y="190500"/>
            <a:ext cx="1320800" cy="2565400"/>
          </a:xfrm>
          <a:prstGeom prst="rect">
            <a:avLst/>
          </a:prstGeom>
          <a:solidFill>
            <a:srgbClr val="F7F9FC"/>
          </a:solidFill>
          <a:ln w="6985">
            <a:solidFill>
              <a:srgbClr val="8697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guided screening"/>
          <p:cNvSpPr txBox="1"/>
          <p:nvPr/>
        </p:nvSpPr>
        <p:spPr>
          <a:xfrm>
            <a:off x="2298700" y="228600"/>
            <a:ext cx="1270000" cy="177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384A"/>
                </a:solidFill>
                <a:latin typeface="Liberation Sans"/>
              </a:defRPr>
            </a:pPr>
            <a:r>
              <a:t>Text-guided screening</a:t>
            </a:r>
          </a:p>
        </p:txBody>
      </p:sp>
      <p:sp>
        <p:nvSpPr>
          <p:cNvPr id="8" name="Interaction"/>
          <p:cNvSpPr/>
          <p:nvPr/>
        </p:nvSpPr>
        <p:spPr>
          <a:xfrm>
            <a:off x="3670300" y="190500"/>
            <a:ext cx="838200" cy="2565400"/>
          </a:xfrm>
          <a:prstGeom prst="rect">
            <a:avLst/>
          </a:prstGeom>
          <a:solidFill>
            <a:srgbClr val="F7F9FC"/>
          </a:solidFill>
          <a:ln w="6985">
            <a:solidFill>
              <a:srgbClr val="8697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nteraction"/>
          <p:cNvSpPr txBox="1"/>
          <p:nvPr/>
        </p:nvSpPr>
        <p:spPr>
          <a:xfrm>
            <a:off x="3695700" y="228600"/>
            <a:ext cx="787400" cy="177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384A"/>
                </a:solidFill>
                <a:latin typeface="Liberation Sans"/>
              </a:defRPr>
            </a:pPr>
            <a:r>
              <a:t>Interaction</a:t>
            </a:r>
          </a:p>
        </p:txBody>
      </p:sp>
      <p:sp>
        <p:nvSpPr>
          <p:cNvPr id="10" name="Fusion &amp; refinement"/>
          <p:cNvSpPr/>
          <p:nvPr/>
        </p:nvSpPr>
        <p:spPr>
          <a:xfrm>
            <a:off x="4584700" y="190500"/>
            <a:ext cx="914400" cy="2565400"/>
          </a:xfrm>
          <a:prstGeom prst="rect">
            <a:avLst/>
          </a:prstGeom>
          <a:solidFill>
            <a:srgbClr val="F7F9FC"/>
          </a:solidFill>
          <a:ln w="6985">
            <a:solidFill>
              <a:srgbClr val="8697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sion &amp; refinement"/>
          <p:cNvSpPr txBox="1"/>
          <p:nvPr/>
        </p:nvSpPr>
        <p:spPr>
          <a:xfrm>
            <a:off x="4610100" y="228600"/>
            <a:ext cx="863600" cy="177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29384A"/>
                </a:solidFill>
                <a:latin typeface="Liberation Sans"/>
              </a:defRPr>
            </a:pPr>
            <a:r>
              <a:t>Fusion &amp; refinement</a:t>
            </a:r>
          </a:p>
        </p:txBody>
      </p:sp>
      <p:pic>
        <p:nvPicPr>
          <p:cNvPr id="12" name="Picture 11" descr="inpu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609600"/>
            <a:ext cx="482600" cy="533400"/>
          </a:xfrm>
          <a:prstGeom prst="rect">
            <a:avLst/>
          </a:prstGeom>
        </p:spPr>
      </p:pic>
      <p:sp>
        <p:nvSpPr>
          <p:cNvPr id="13" name="Input image"/>
          <p:cNvSpPr txBox="1"/>
          <p:nvPr/>
        </p:nvSpPr>
        <p:spPr>
          <a:xfrm>
            <a:off x="88900" y="1155700"/>
            <a:ext cx="533400" cy="2159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Input image</a:t>
            </a:r>
          </a:p>
        </p:txBody>
      </p:sp>
      <p:sp>
        <p:nvSpPr>
          <p:cNvPr id="14" name="Sliding-window tile"/>
          <p:cNvSpPr/>
          <p:nvPr/>
        </p:nvSpPr>
        <p:spPr>
          <a:xfrm>
            <a:off x="254000" y="1587500"/>
            <a:ext cx="165100" cy="2159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le feature"/>
          <p:cNvSpPr/>
          <p:nvPr/>
        </p:nvSpPr>
        <p:spPr>
          <a:xfrm>
            <a:off x="279400" y="1612900"/>
            <a:ext cx="114300" cy="762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ing-window tile"/>
          <p:cNvSpPr/>
          <p:nvPr/>
        </p:nvSpPr>
        <p:spPr>
          <a:xfrm>
            <a:off x="292100" y="1549400"/>
            <a:ext cx="165100" cy="2159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le feature"/>
          <p:cNvSpPr/>
          <p:nvPr/>
        </p:nvSpPr>
        <p:spPr>
          <a:xfrm>
            <a:off x="317500" y="1574800"/>
            <a:ext cx="114300" cy="762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ing-window tile"/>
          <p:cNvSpPr/>
          <p:nvPr/>
        </p:nvSpPr>
        <p:spPr>
          <a:xfrm>
            <a:off x="330200" y="1511300"/>
            <a:ext cx="165100" cy="2159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le feature"/>
          <p:cNvSpPr/>
          <p:nvPr/>
        </p:nvSpPr>
        <p:spPr>
          <a:xfrm>
            <a:off x="355600" y="1536700"/>
            <a:ext cx="114300" cy="762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ing Window Partition"/>
          <p:cNvSpPr txBox="1"/>
          <p:nvPr/>
        </p:nvSpPr>
        <p:spPr>
          <a:xfrm>
            <a:off x="76200" y="1892300"/>
            <a:ext cx="584200" cy="4064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Sliding Window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Partition</a:t>
            </a:r>
          </a:p>
        </p:txBody>
      </p:sp>
      <p:sp>
        <p:nvSpPr>
          <p:cNvPr id="21" name="Shared CLIP Local Encoder"/>
          <p:cNvSpPr/>
          <p:nvPr/>
        </p:nvSpPr>
        <p:spPr>
          <a:xfrm>
            <a:off x="723900" y="1257300"/>
            <a:ext cx="495300" cy="7620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hared CLIP Local Encoder"/>
          <p:cNvSpPr txBox="1"/>
          <p:nvPr/>
        </p:nvSpPr>
        <p:spPr>
          <a:xfrm>
            <a:off x="736600" y="1282700"/>
            <a:ext cx="469900" cy="7112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Shared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CLIP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Encoder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5600" y="1397000"/>
            <a:ext cx="0" cy="11430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5300" y="1676400"/>
            <a:ext cx="2286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ocal branch"/>
          <p:cNvSpPr/>
          <p:nvPr/>
        </p:nvSpPr>
        <p:spPr>
          <a:xfrm>
            <a:off x="1435100" y="609600"/>
            <a:ext cx="698500" cy="7874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al Branch Extraction"/>
          <p:cNvSpPr txBox="1"/>
          <p:nvPr/>
        </p:nvSpPr>
        <p:spPr>
          <a:xfrm>
            <a:off x="1447800" y="647700"/>
            <a:ext cx="673100" cy="304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Local Branch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Extraction</a:t>
            </a:r>
          </a:p>
        </p:txBody>
      </p:sp>
      <p:sp>
        <p:nvSpPr>
          <p:cNvPr id="27" name="Editable token"/>
          <p:cNvSpPr/>
          <p:nvPr/>
        </p:nvSpPr>
        <p:spPr>
          <a:xfrm>
            <a:off x="1536700" y="10414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token"/>
          <p:cNvSpPr/>
          <p:nvPr/>
        </p:nvSpPr>
        <p:spPr>
          <a:xfrm>
            <a:off x="1625600" y="10414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oken"/>
          <p:cNvSpPr/>
          <p:nvPr/>
        </p:nvSpPr>
        <p:spPr>
          <a:xfrm>
            <a:off x="1714500" y="1041400"/>
            <a:ext cx="63500" cy="63500"/>
          </a:xfrm>
          <a:prstGeom prst="rect">
            <a:avLst/>
          </a:prstGeom>
          <a:solidFill>
            <a:srgbClr val="F8DFC1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token"/>
          <p:cNvSpPr/>
          <p:nvPr/>
        </p:nvSpPr>
        <p:spPr>
          <a:xfrm>
            <a:off x="1803400" y="10414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token"/>
          <p:cNvSpPr/>
          <p:nvPr/>
        </p:nvSpPr>
        <p:spPr>
          <a:xfrm>
            <a:off x="1892300" y="10414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token"/>
          <p:cNvSpPr/>
          <p:nvPr/>
        </p:nvSpPr>
        <p:spPr>
          <a:xfrm>
            <a:off x="1536700" y="11303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token"/>
          <p:cNvSpPr/>
          <p:nvPr/>
        </p:nvSpPr>
        <p:spPr>
          <a:xfrm>
            <a:off x="1625600" y="1130300"/>
            <a:ext cx="63500" cy="63500"/>
          </a:xfrm>
          <a:prstGeom prst="rect">
            <a:avLst/>
          </a:prstGeom>
          <a:solidFill>
            <a:srgbClr val="F8DFC1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token"/>
          <p:cNvSpPr/>
          <p:nvPr/>
        </p:nvSpPr>
        <p:spPr>
          <a:xfrm>
            <a:off x="1714500" y="11303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token"/>
          <p:cNvSpPr/>
          <p:nvPr/>
        </p:nvSpPr>
        <p:spPr>
          <a:xfrm>
            <a:off x="1803400" y="11303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token"/>
          <p:cNvSpPr/>
          <p:nvPr/>
        </p:nvSpPr>
        <p:spPr>
          <a:xfrm>
            <a:off x="1892300" y="11303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itch global branch"/>
          <p:cNvSpPr/>
          <p:nvPr/>
        </p:nvSpPr>
        <p:spPr>
          <a:xfrm>
            <a:off x="1435100" y="1803400"/>
            <a:ext cx="698500" cy="7874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itch Global Stitch Branch"/>
          <p:cNvSpPr txBox="1"/>
          <p:nvPr/>
        </p:nvSpPr>
        <p:spPr>
          <a:xfrm>
            <a:off x="1447800" y="1841500"/>
            <a:ext cx="673100" cy="3048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Stitch Global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Stitch Branch</a:t>
            </a:r>
          </a:p>
        </p:txBody>
      </p:sp>
      <p:sp>
        <p:nvSpPr>
          <p:cNvPr id="39" name="Editable token"/>
          <p:cNvSpPr/>
          <p:nvPr/>
        </p:nvSpPr>
        <p:spPr>
          <a:xfrm>
            <a:off x="1536700" y="22479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token"/>
          <p:cNvSpPr/>
          <p:nvPr/>
        </p:nvSpPr>
        <p:spPr>
          <a:xfrm>
            <a:off x="1625600" y="22479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oken"/>
          <p:cNvSpPr/>
          <p:nvPr/>
        </p:nvSpPr>
        <p:spPr>
          <a:xfrm>
            <a:off x="1714500" y="22479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oken"/>
          <p:cNvSpPr/>
          <p:nvPr/>
        </p:nvSpPr>
        <p:spPr>
          <a:xfrm>
            <a:off x="1803400" y="22479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token"/>
          <p:cNvSpPr/>
          <p:nvPr/>
        </p:nvSpPr>
        <p:spPr>
          <a:xfrm>
            <a:off x="1892300" y="22479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token"/>
          <p:cNvSpPr/>
          <p:nvPr/>
        </p:nvSpPr>
        <p:spPr>
          <a:xfrm>
            <a:off x="1536700" y="23368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token"/>
          <p:cNvSpPr/>
          <p:nvPr/>
        </p:nvSpPr>
        <p:spPr>
          <a:xfrm>
            <a:off x="1625600" y="23368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token"/>
          <p:cNvSpPr/>
          <p:nvPr/>
        </p:nvSpPr>
        <p:spPr>
          <a:xfrm>
            <a:off x="1714500" y="23368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token"/>
          <p:cNvSpPr/>
          <p:nvPr/>
        </p:nvSpPr>
        <p:spPr>
          <a:xfrm>
            <a:off x="1803400" y="23368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token"/>
          <p:cNvSpPr/>
          <p:nvPr/>
        </p:nvSpPr>
        <p:spPr>
          <a:xfrm>
            <a:off x="1892300" y="23368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219200" y="1308100"/>
            <a:ext cx="1143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333500" y="1003300"/>
            <a:ext cx="0" cy="3048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33500" y="1003300"/>
            <a:ext cx="1016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19200" y="1790700"/>
            <a:ext cx="1143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33500" y="1790700"/>
            <a:ext cx="0" cy="4064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33500" y="2197100"/>
            <a:ext cx="1016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ffline CBP Text Prototype"/>
          <p:cNvSpPr/>
          <p:nvPr/>
        </p:nvSpPr>
        <p:spPr>
          <a:xfrm>
            <a:off x="2387600" y="520700"/>
            <a:ext cx="1092200" cy="393700"/>
          </a:xfrm>
          <a:prstGeom prst="rect">
            <a:avLst/>
          </a:prstGeom>
          <a:solidFill>
            <a:srgbClr val="FFFFFF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ffline CBP Text Prototype"/>
          <p:cNvSpPr txBox="1"/>
          <p:nvPr/>
        </p:nvSpPr>
        <p:spPr>
          <a:xfrm>
            <a:off x="2400300" y="546100"/>
            <a:ext cx="1066800" cy="3429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Offline CBP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Text Prototype</a:t>
            </a:r>
          </a:p>
        </p:txBody>
      </p:sp>
      <p:sp>
        <p:nvSpPr>
          <p:cNvPr id="57" name="Text-Guided Proxy Anchor Generation"/>
          <p:cNvSpPr/>
          <p:nvPr/>
        </p:nvSpPr>
        <p:spPr>
          <a:xfrm>
            <a:off x="2387600" y="1193800"/>
            <a:ext cx="1092200" cy="444500"/>
          </a:xfrm>
          <a:prstGeom prst="rect">
            <a:avLst/>
          </a:prstGeom>
          <a:solidFill>
            <a:srgbClr val="F8DFC1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-Guided Proxy Anchor Generation"/>
          <p:cNvSpPr txBox="1"/>
          <p:nvPr/>
        </p:nvSpPr>
        <p:spPr>
          <a:xfrm>
            <a:off x="2400300" y="1219200"/>
            <a:ext cx="1066800" cy="3937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Text-Guided Proxy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Anchor Generation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933700" y="914400"/>
            <a:ext cx="0" cy="27940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133600" y="1003300"/>
            <a:ext cx="1143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247900" y="1003300"/>
            <a:ext cx="0" cy="3302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247900" y="1333500"/>
            <a:ext cx="1397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133600" y="2197100"/>
            <a:ext cx="1778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311400" y="1498600"/>
            <a:ext cx="0" cy="6985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11400" y="1498600"/>
            <a:ext cx="762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Lightweight Token Selection"/>
          <p:cNvSpPr/>
          <p:nvPr/>
        </p:nvSpPr>
        <p:spPr>
          <a:xfrm>
            <a:off x="2387600" y="1943100"/>
            <a:ext cx="1092200" cy="3683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ightweight Token Selection"/>
          <p:cNvSpPr txBox="1"/>
          <p:nvPr/>
        </p:nvSpPr>
        <p:spPr>
          <a:xfrm>
            <a:off x="2400300" y="1968500"/>
            <a:ext cx="1066800" cy="3175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Lightweight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Token Selection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933700" y="1638300"/>
            <a:ext cx="0" cy="30480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ditable token"/>
          <p:cNvSpPr/>
          <p:nvPr/>
        </p:nvSpPr>
        <p:spPr>
          <a:xfrm>
            <a:off x="2603500" y="24384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token"/>
          <p:cNvSpPr/>
          <p:nvPr/>
        </p:nvSpPr>
        <p:spPr>
          <a:xfrm>
            <a:off x="2692400" y="24384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token"/>
          <p:cNvSpPr/>
          <p:nvPr/>
        </p:nvSpPr>
        <p:spPr>
          <a:xfrm>
            <a:off x="2781300" y="2438400"/>
            <a:ext cx="63500" cy="63500"/>
          </a:xfrm>
          <a:prstGeom prst="rect">
            <a:avLst/>
          </a:prstGeom>
          <a:solidFill>
            <a:srgbClr val="F8DFC1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token"/>
          <p:cNvSpPr/>
          <p:nvPr/>
        </p:nvSpPr>
        <p:spPr>
          <a:xfrm>
            <a:off x="2870200" y="24384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oken"/>
          <p:cNvSpPr/>
          <p:nvPr/>
        </p:nvSpPr>
        <p:spPr>
          <a:xfrm>
            <a:off x="2959100" y="2438400"/>
            <a:ext cx="63500" cy="63500"/>
          </a:xfrm>
          <a:prstGeom prst="rect">
            <a:avLst/>
          </a:prstGeom>
          <a:solidFill>
            <a:srgbClr val="D9D1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token"/>
          <p:cNvSpPr/>
          <p:nvPr/>
        </p:nvSpPr>
        <p:spPr>
          <a:xfrm>
            <a:off x="3048000" y="24384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oken"/>
          <p:cNvSpPr/>
          <p:nvPr/>
        </p:nvSpPr>
        <p:spPr>
          <a:xfrm>
            <a:off x="3136900" y="24384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token"/>
          <p:cNvSpPr/>
          <p:nvPr/>
        </p:nvSpPr>
        <p:spPr>
          <a:xfrm>
            <a:off x="3225800" y="24384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token"/>
          <p:cNvSpPr/>
          <p:nvPr/>
        </p:nvSpPr>
        <p:spPr>
          <a:xfrm>
            <a:off x="2603500" y="25273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token"/>
          <p:cNvSpPr/>
          <p:nvPr/>
        </p:nvSpPr>
        <p:spPr>
          <a:xfrm>
            <a:off x="2692400" y="25273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token"/>
          <p:cNvSpPr/>
          <p:nvPr/>
        </p:nvSpPr>
        <p:spPr>
          <a:xfrm>
            <a:off x="2781300" y="2527300"/>
            <a:ext cx="63500" cy="63500"/>
          </a:xfrm>
          <a:prstGeom prst="rect">
            <a:avLst/>
          </a:prstGeom>
          <a:solidFill>
            <a:srgbClr val="F8DFC1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token"/>
          <p:cNvSpPr/>
          <p:nvPr/>
        </p:nvSpPr>
        <p:spPr>
          <a:xfrm>
            <a:off x="2870200" y="25273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oken"/>
          <p:cNvSpPr/>
          <p:nvPr/>
        </p:nvSpPr>
        <p:spPr>
          <a:xfrm>
            <a:off x="2959100" y="2527300"/>
            <a:ext cx="63500" cy="63500"/>
          </a:xfrm>
          <a:prstGeom prst="rect">
            <a:avLst/>
          </a:prstGeom>
          <a:solidFill>
            <a:srgbClr val="D9D1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token"/>
          <p:cNvSpPr/>
          <p:nvPr/>
        </p:nvSpPr>
        <p:spPr>
          <a:xfrm>
            <a:off x="3048000" y="25273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oken"/>
          <p:cNvSpPr/>
          <p:nvPr/>
        </p:nvSpPr>
        <p:spPr>
          <a:xfrm>
            <a:off x="3136900" y="2527300"/>
            <a:ext cx="63500" cy="63500"/>
          </a:xfrm>
          <a:prstGeom prst="rect">
            <a:avLst/>
          </a:prstGeom>
          <a:solidFill>
            <a:srgbClr val="DCEAF7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oken"/>
          <p:cNvSpPr/>
          <p:nvPr/>
        </p:nvSpPr>
        <p:spPr>
          <a:xfrm>
            <a:off x="3225800" y="2527300"/>
            <a:ext cx="63500" cy="63500"/>
          </a:xfrm>
          <a:prstGeom prst="rect">
            <a:avLst/>
          </a:prstGeom>
          <a:solidFill>
            <a:srgbClr val="E2E6EB"/>
          </a:solidFill>
          <a:ln w="6985">
            <a:solidFill>
              <a:srgbClr val="7587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elected tokens"/>
          <p:cNvSpPr txBox="1"/>
          <p:nvPr/>
        </p:nvSpPr>
        <p:spPr>
          <a:xfrm>
            <a:off x="2400300" y="2654300"/>
            <a:ext cx="1066800" cy="889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9384A"/>
                </a:solidFill>
                <a:latin typeface="Liberation Sans"/>
              </a:defRPr>
            </a:pPr>
            <a:r>
              <a:t>Selected tokens</a:t>
            </a:r>
          </a:p>
        </p:txBody>
      </p:sp>
      <p:sp>
        <p:nvSpPr>
          <p:cNvPr id="86" name="Local Attention"/>
          <p:cNvSpPr/>
          <p:nvPr/>
        </p:nvSpPr>
        <p:spPr>
          <a:xfrm>
            <a:off x="3746500" y="1016000"/>
            <a:ext cx="685800" cy="4064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ocal Attention"/>
          <p:cNvSpPr txBox="1"/>
          <p:nvPr/>
        </p:nvSpPr>
        <p:spPr>
          <a:xfrm>
            <a:off x="3759200" y="1041400"/>
            <a:ext cx="660400" cy="3556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Attention</a:t>
            </a:r>
          </a:p>
        </p:txBody>
      </p:sp>
      <p:sp>
        <p:nvSpPr>
          <p:cNvPr id="88" name="Global Hierarchical Attention"/>
          <p:cNvSpPr/>
          <p:nvPr/>
        </p:nvSpPr>
        <p:spPr>
          <a:xfrm>
            <a:off x="3746500" y="1943100"/>
            <a:ext cx="685800" cy="4699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lobal Hierarchical Attention"/>
          <p:cNvSpPr txBox="1"/>
          <p:nvPr/>
        </p:nvSpPr>
        <p:spPr>
          <a:xfrm>
            <a:off x="3759200" y="1968500"/>
            <a:ext cx="660400" cy="4191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Global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Hierarchical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29384A"/>
                </a:solidFill>
                <a:latin typeface="Liberation Sans"/>
              </a:defRPr>
            </a:pPr>
            <a:r>
              <a:t>Attention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479800" y="2044700"/>
            <a:ext cx="1524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632200" y="1219200"/>
            <a:ext cx="0" cy="8255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632200" y="1219200"/>
            <a:ext cx="1143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479800" y="2184400"/>
            <a:ext cx="2667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089400" y="1422400"/>
            <a:ext cx="0" cy="52070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cale-Gated Feature Fusion"/>
          <p:cNvSpPr/>
          <p:nvPr/>
        </p:nvSpPr>
        <p:spPr>
          <a:xfrm>
            <a:off x="4660900" y="1219200"/>
            <a:ext cx="762000" cy="495300"/>
          </a:xfrm>
          <a:prstGeom prst="rect">
            <a:avLst/>
          </a:prstGeom>
          <a:solidFill>
            <a:srgbClr val="F8DFC1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cale-Gated Feature Fusion"/>
          <p:cNvSpPr txBox="1"/>
          <p:nvPr/>
        </p:nvSpPr>
        <p:spPr>
          <a:xfrm>
            <a:off x="4673600" y="1244600"/>
            <a:ext cx="736600" cy="4445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Scale-Gated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Feature Fusion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432300" y="1219200"/>
            <a:ext cx="1143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546600" y="1219200"/>
            <a:ext cx="0" cy="1270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546600" y="1346200"/>
            <a:ext cx="1143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432300" y="2184400"/>
            <a:ext cx="114300" cy="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546600" y="1587500"/>
            <a:ext cx="0" cy="596900"/>
          </a:xfrm>
          <a:prstGeom prst="line">
            <a:avLst/>
          </a:prstGeom>
          <a:ln w="8255">
            <a:solidFill>
              <a:srgbClr val="2938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546600" y="1587500"/>
            <a:ext cx="1143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ross-Modal Consistency Refinement"/>
          <p:cNvSpPr/>
          <p:nvPr/>
        </p:nvSpPr>
        <p:spPr>
          <a:xfrm>
            <a:off x="4660900" y="2082800"/>
            <a:ext cx="762000" cy="4953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ross-Modal Consistency Refinement"/>
          <p:cNvSpPr txBox="1"/>
          <p:nvPr/>
        </p:nvSpPr>
        <p:spPr>
          <a:xfrm>
            <a:off x="4673600" y="2108200"/>
            <a:ext cx="736600" cy="4445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29384A"/>
                </a:solidFill>
                <a:latin typeface="Liberation Sans"/>
              </a:defRPr>
            </a:pPr>
            <a:r>
              <a:t>Cross-Modal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29384A"/>
                </a:solidFill>
                <a:latin typeface="Liberation Sans"/>
              </a:defRPr>
            </a:pPr>
            <a:r>
              <a:t>Consistency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29384A"/>
                </a:solidFill>
                <a:latin typeface="Liberation Sans"/>
              </a:defRPr>
            </a:pPr>
            <a:r>
              <a:t>Refinement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041900" y="1714500"/>
            <a:ext cx="0" cy="36830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output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100" y="2044700"/>
            <a:ext cx="698500" cy="546100"/>
          </a:xfrm>
          <a:prstGeom prst="rect">
            <a:avLst/>
          </a:prstGeom>
        </p:spPr>
      </p:pic>
      <p:sp>
        <p:nvSpPr>
          <p:cNvPr id="107" name="Output image border"/>
          <p:cNvSpPr/>
          <p:nvPr/>
        </p:nvSpPr>
        <p:spPr>
          <a:xfrm>
            <a:off x="5626100" y="2044700"/>
            <a:ext cx="698500" cy="546100"/>
          </a:xfrm>
          <a:prstGeom prst="rect">
            <a:avLst/>
          </a:prstGeom>
          <a:noFill/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5422900" y="2324100"/>
            <a:ext cx="203200" cy="0"/>
          </a:xfrm>
          <a:prstGeom prst="line">
            <a:avLst/>
          </a:prstGeom>
          <a:ln w="8255">
            <a:solidFill>
              <a:srgbClr val="2938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utput Segmentation Map"/>
          <p:cNvSpPr txBox="1"/>
          <p:nvPr/>
        </p:nvSpPr>
        <p:spPr>
          <a:xfrm>
            <a:off x="5562600" y="2628900"/>
            <a:ext cx="825500" cy="3302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Output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9384A"/>
                </a:solidFill>
                <a:latin typeface="Liberation Sans"/>
              </a:defRPr>
            </a:pPr>
            <a:r>
              <a:t>Segmentation Map</a:t>
            </a:r>
          </a:p>
        </p:txBody>
      </p:sp>
      <p:sp>
        <p:nvSpPr>
          <p:cNvPr id="110" name="Legend swatch"/>
          <p:cNvSpPr/>
          <p:nvPr/>
        </p:nvSpPr>
        <p:spPr>
          <a:xfrm>
            <a:off x="952500" y="2946400"/>
            <a:ext cx="76200" cy="76200"/>
          </a:xfrm>
          <a:prstGeom prst="rect">
            <a:avLst/>
          </a:prstGeom>
          <a:solidFill>
            <a:srgbClr val="DCEAF7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sual features"/>
          <p:cNvSpPr txBox="1"/>
          <p:nvPr/>
        </p:nvSpPr>
        <p:spPr>
          <a:xfrm>
            <a:off x="1066800" y="2908300"/>
            <a:ext cx="1270000" cy="1524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9384A"/>
                </a:solidFill>
                <a:latin typeface="Liberation Sans"/>
              </a:defRPr>
            </a:pPr>
            <a:r>
              <a:t>Visual features</a:t>
            </a:r>
          </a:p>
        </p:txBody>
      </p:sp>
      <p:sp>
        <p:nvSpPr>
          <p:cNvPr id="112" name="Legend swatch"/>
          <p:cNvSpPr/>
          <p:nvPr/>
        </p:nvSpPr>
        <p:spPr>
          <a:xfrm>
            <a:off x="2476500" y="2946400"/>
            <a:ext cx="76200" cy="76200"/>
          </a:xfrm>
          <a:prstGeom prst="rect">
            <a:avLst/>
          </a:prstGeom>
          <a:solidFill>
            <a:srgbClr val="F8DFC1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Proxy / fusion"/>
          <p:cNvSpPr txBox="1"/>
          <p:nvPr/>
        </p:nvSpPr>
        <p:spPr>
          <a:xfrm>
            <a:off x="2590800" y="2908300"/>
            <a:ext cx="1270000" cy="1524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9384A"/>
                </a:solidFill>
                <a:latin typeface="Liberation Sans"/>
              </a:defRPr>
            </a:pPr>
            <a:r>
              <a:t>Proxy / fusion</a:t>
            </a:r>
          </a:p>
        </p:txBody>
      </p:sp>
      <p:sp>
        <p:nvSpPr>
          <p:cNvPr id="114" name="Legend swatch"/>
          <p:cNvSpPr/>
          <p:nvPr/>
        </p:nvSpPr>
        <p:spPr>
          <a:xfrm>
            <a:off x="3937000" y="2946400"/>
            <a:ext cx="76200" cy="76200"/>
          </a:xfrm>
          <a:prstGeom prst="rect">
            <a:avLst/>
          </a:prstGeom>
          <a:solidFill>
            <a:srgbClr val="D9D1EB"/>
          </a:solidFill>
          <a:ln w="6985">
            <a:solidFill>
              <a:srgbClr val="29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 prototypes"/>
          <p:cNvSpPr txBox="1"/>
          <p:nvPr/>
        </p:nvSpPr>
        <p:spPr>
          <a:xfrm>
            <a:off x="4051300" y="2908300"/>
            <a:ext cx="1270000" cy="1524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29384A"/>
                </a:solidFill>
                <a:latin typeface="Liberation Sans"/>
              </a:defRPr>
            </a:pPr>
            <a:r>
              <a:t>Text prototypes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